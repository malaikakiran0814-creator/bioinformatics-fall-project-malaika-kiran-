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56" d="100"/>
          <a:sy n="56" d="100"/>
        </p:scale>
        <p:origin x="220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smtClean="0"/>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F9BF45F-432B-4024-9409-106A7AC02EA0}"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F8E73-0AA3-437D-B7C9-D053310DE50E}" type="slidenum">
              <a:rPr lang="en-US" smtClean="0"/>
              <a:t>‹#›</a:t>
            </a:fld>
            <a:endParaRPr lang="en-US"/>
          </a:p>
        </p:txBody>
      </p:sp>
    </p:spTree>
    <p:extLst>
      <p:ext uri="{BB962C8B-B14F-4D97-AF65-F5344CB8AC3E}">
        <p14:creationId xmlns:p14="http://schemas.microsoft.com/office/powerpoint/2010/main" val="1670066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9BF45F-432B-4024-9409-106A7AC02EA0}"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F8E73-0AA3-437D-B7C9-D053310DE50E}" type="slidenum">
              <a:rPr lang="en-US" smtClean="0"/>
              <a:t>‹#›</a:t>
            </a:fld>
            <a:endParaRPr lang="en-US"/>
          </a:p>
        </p:txBody>
      </p:sp>
    </p:spTree>
    <p:extLst>
      <p:ext uri="{BB962C8B-B14F-4D97-AF65-F5344CB8AC3E}">
        <p14:creationId xmlns:p14="http://schemas.microsoft.com/office/powerpoint/2010/main" val="3056025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smtClean="0"/>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9BF45F-432B-4024-9409-106A7AC02EA0}"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F8E73-0AA3-437D-B7C9-D053310DE50E}" type="slidenum">
              <a:rPr lang="en-US" smtClean="0"/>
              <a:t>‹#›</a:t>
            </a:fld>
            <a:endParaRPr lang="en-US"/>
          </a:p>
        </p:txBody>
      </p:sp>
    </p:spTree>
    <p:extLst>
      <p:ext uri="{BB962C8B-B14F-4D97-AF65-F5344CB8AC3E}">
        <p14:creationId xmlns:p14="http://schemas.microsoft.com/office/powerpoint/2010/main" val="954213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F9BF45F-432B-4024-9409-106A7AC02EA0}"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F8E73-0AA3-437D-B7C9-D053310DE50E}" type="slidenum">
              <a:rPr lang="en-US" smtClean="0"/>
              <a:t>‹#›</a:t>
            </a:fld>
            <a:endParaRPr lang="en-US"/>
          </a:p>
        </p:txBody>
      </p:sp>
    </p:spTree>
    <p:extLst>
      <p:ext uri="{BB962C8B-B14F-4D97-AF65-F5344CB8AC3E}">
        <p14:creationId xmlns:p14="http://schemas.microsoft.com/office/powerpoint/2010/main" val="1008542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F9BF45F-432B-4024-9409-106A7AC02EA0}" type="datetimeFigureOut">
              <a:rPr lang="en-US" smtClean="0"/>
              <a:t>12/25/2025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7F8E73-0AA3-437D-B7C9-D053310DE50E}" type="slidenum">
              <a:rPr lang="en-US" smtClean="0"/>
              <a:t>‹#›</a:t>
            </a:fld>
            <a:endParaRPr lang="en-US"/>
          </a:p>
        </p:txBody>
      </p:sp>
    </p:spTree>
    <p:extLst>
      <p:ext uri="{BB962C8B-B14F-4D97-AF65-F5344CB8AC3E}">
        <p14:creationId xmlns:p14="http://schemas.microsoft.com/office/powerpoint/2010/main" val="4192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F9BF45F-432B-4024-9409-106A7AC02EA0}" type="datetimeFigureOut">
              <a:rPr lang="en-US" smtClean="0"/>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7F8E73-0AA3-437D-B7C9-D053310DE50E}" type="slidenum">
              <a:rPr lang="en-US" smtClean="0"/>
              <a:t>‹#›</a:t>
            </a:fld>
            <a:endParaRPr lang="en-US"/>
          </a:p>
        </p:txBody>
      </p:sp>
    </p:spTree>
    <p:extLst>
      <p:ext uri="{BB962C8B-B14F-4D97-AF65-F5344CB8AC3E}">
        <p14:creationId xmlns:p14="http://schemas.microsoft.com/office/powerpoint/2010/main" val="966639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9BF45F-432B-4024-9409-106A7AC02EA0}" type="datetimeFigureOut">
              <a:rPr lang="en-US" smtClean="0"/>
              <a:t>12/25/2025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7F8E73-0AA3-437D-B7C9-D053310DE50E}" type="slidenum">
              <a:rPr lang="en-US" smtClean="0"/>
              <a:t>‹#›</a:t>
            </a:fld>
            <a:endParaRPr lang="en-US"/>
          </a:p>
        </p:txBody>
      </p:sp>
    </p:spTree>
    <p:extLst>
      <p:ext uri="{BB962C8B-B14F-4D97-AF65-F5344CB8AC3E}">
        <p14:creationId xmlns:p14="http://schemas.microsoft.com/office/powerpoint/2010/main" val="3104996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smtClean="0"/>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9BF45F-432B-4024-9409-106A7AC02EA0}"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F8E73-0AA3-437D-B7C9-D053310DE50E}" type="slidenum">
              <a:rPr lang="en-US" smtClean="0"/>
              <a:t>‹#›</a:t>
            </a:fld>
            <a:endParaRPr lang="en-US"/>
          </a:p>
        </p:txBody>
      </p:sp>
    </p:spTree>
    <p:extLst>
      <p:ext uri="{BB962C8B-B14F-4D97-AF65-F5344CB8AC3E}">
        <p14:creationId xmlns:p14="http://schemas.microsoft.com/office/powerpoint/2010/main" val="3406584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9BF45F-432B-4024-9409-106A7AC02EA0}"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F8E73-0AA3-437D-B7C9-D053310DE50E}" type="slidenum">
              <a:rPr lang="en-US" smtClean="0"/>
              <a:t>‹#›</a:t>
            </a:fld>
            <a:endParaRPr lang="en-US"/>
          </a:p>
        </p:txBody>
      </p:sp>
    </p:spTree>
    <p:extLst>
      <p:ext uri="{BB962C8B-B14F-4D97-AF65-F5344CB8AC3E}">
        <p14:creationId xmlns:p14="http://schemas.microsoft.com/office/powerpoint/2010/main" val="2299312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9BF45F-432B-4024-9409-106A7AC02EA0}"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F8E73-0AA3-437D-B7C9-D053310DE50E}" type="slidenum">
              <a:rPr lang="en-US" smtClean="0"/>
              <a:t>‹#›</a:t>
            </a:fld>
            <a:endParaRPr lang="en-US"/>
          </a:p>
        </p:txBody>
      </p:sp>
    </p:spTree>
    <p:extLst>
      <p:ext uri="{BB962C8B-B14F-4D97-AF65-F5344CB8AC3E}">
        <p14:creationId xmlns:p14="http://schemas.microsoft.com/office/powerpoint/2010/main" val="528774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9BF45F-432B-4024-9409-106A7AC02EA0}"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F8E73-0AA3-437D-B7C9-D053310DE50E}" type="slidenum">
              <a:rPr lang="en-US" smtClean="0"/>
              <a:t>‹#›</a:t>
            </a:fld>
            <a:endParaRPr lang="en-US"/>
          </a:p>
        </p:txBody>
      </p:sp>
    </p:spTree>
    <p:extLst>
      <p:ext uri="{BB962C8B-B14F-4D97-AF65-F5344CB8AC3E}">
        <p14:creationId xmlns:p14="http://schemas.microsoft.com/office/powerpoint/2010/main" val="2815880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FF9BF45F-432B-4024-9409-106A7AC02EA0}" type="datetimeFigureOut">
              <a:rPr lang="en-US" smtClean="0"/>
              <a:t>12/25/2025</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207F8E73-0AA3-437D-B7C9-D053310DE50E}" type="slidenum">
              <a:rPr lang="en-US" smtClean="0"/>
              <a:t>‹#›</a:t>
            </a:fld>
            <a:endParaRPr lang="en-US"/>
          </a:p>
        </p:txBody>
      </p:sp>
    </p:spTree>
    <p:extLst>
      <p:ext uri="{BB962C8B-B14F-4D97-AF65-F5344CB8AC3E}">
        <p14:creationId xmlns:p14="http://schemas.microsoft.com/office/powerpoint/2010/main" val="21953359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hyperlink" Target="https://doi.org/10.1038/75556" TargetMode="External"/><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915" y="286870"/>
            <a:ext cx="5829300" cy="771339"/>
          </a:xfrm>
        </p:spPr>
        <p:txBody>
          <a:bodyPr>
            <a:normAutofit fontScale="90000"/>
          </a:bodyPr>
          <a:lstStyle/>
          <a:p>
            <a:r>
              <a:rPr lang="en-US" sz="1600" dirty="0" smtClean="0">
                <a:latin typeface="Arial Black" panose="020B0A04020102020204" pitchFamily="34" charset="0"/>
              </a:rPr>
              <a:t>COMPUTATIONAL ANALYSIS OF ARABIDOPSIS THALIANA </a:t>
            </a:r>
            <a:r>
              <a:rPr lang="en-US" sz="1600" b="1" dirty="0" smtClean="0">
                <a:latin typeface="Arial Black" panose="020B0A04020102020204" pitchFamily="34" charset="0"/>
              </a:rPr>
              <a:t>CHLOROPHYLL A-B BINDING FAMILY PROTEIN (NPQ4) </a:t>
            </a:r>
            <a:r>
              <a:rPr lang="en-US" sz="1600" b="1" dirty="0"/>
              <a:t> </a:t>
            </a:r>
            <a:r>
              <a:rPr lang="en-US" sz="1600" b="1" dirty="0" smtClean="0">
                <a:latin typeface="Arial Black" panose="020B0A04020102020204" pitchFamily="34" charset="0"/>
              </a:rPr>
              <a:t/>
            </a:r>
            <a:br>
              <a:rPr lang="en-US" sz="1600" b="1" dirty="0" smtClean="0">
                <a:latin typeface="Arial Black" panose="020B0A04020102020204" pitchFamily="34" charset="0"/>
              </a:rPr>
            </a:br>
            <a:r>
              <a:rPr lang="en-US" sz="900" b="1" dirty="0" smtClean="0">
                <a:latin typeface="Arial Black" panose="020B0A04020102020204" pitchFamily="34" charset="0"/>
              </a:rPr>
              <a:t>MALAIKA KIRAN I DEPARTMENT OF BIOCHEMISTRY I BIOINFORMATICS PROJECT</a:t>
            </a:r>
            <a:endParaRPr lang="en-US" sz="900" dirty="0">
              <a:latin typeface="Arial Black" panose="020B0A04020102020204" pitchFamily="34" charset="0"/>
            </a:endParaRPr>
          </a:p>
        </p:txBody>
      </p:sp>
      <p:sp>
        <p:nvSpPr>
          <p:cNvPr id="5" name="Rounded Rectangle 4"/>
          <p:cNvSpPr/>
          <p:nvPr/>
        </p:nvSpPr>
        <p:spPr>
          <a:xfrm>
            <a:off x="249892" y="1434727"/>
            <a:ext cx="3061167" cy="1580584"/>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8" name="Rounded Rectangle 7"/>
          <p:cNvSpPr/>
          <p:nvPr/>
        </p:nvSpPr>
        <p:spPr>
          <a:xfrm>
            <a:off x="613577" y="1426458"/>
            <a:ext cx="2421202" cy="369332"/>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9" name="Rectangle 8"/>
          <p:cNvSpPr/>
          <p:nvPr/>
        </p:nvSpPr>
        <p:spPr>
          <a:xfrm>
            <a:off x="660418" y="1465213"/>
            <a:ext cx="2194062" cy="369332"/>
          </a:xfrm>
          <a:prstGeom prst="rect">
            <a:avLst/>
          </a:prstGeom>
        </p:spPr>
        <p:txBody>
          <a:bodyPr wrap="none">
            <a:spAutoFit/>
          </a:bodyPr>
          <a:lstStyle/>
          <a:p>
            <a:r>
              <a:rPr lang="en-US" b="1" dirty="0" smtClean="0">
                <a:latin typeface="Arial Black" panose="020B0A04020102020204" pitchFamily="34" charset="0"/>
              </a:rPr>
              <a:t>INTRODUCTION</a:t>
            </a:r>
            <a:endParaRPr lang="en-US" b="1" dirty="0">
              <a:latin typeface="Arial Black" panose="020B0A04020102020204" pitchFamily="34" charset="0"/>
            </a:endParaRP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7449" y="4438594"/>
            <a:ext cx="1425387" cy="728245"/>
          </a:xfrm>
          <a:prstGeom prst="rect">
            <a:avLst/>
          </a:prstGeom>
        </p:spPr>
      </p:pic>
      <p:sp>
        <p:nvSpPr>
          <p:cNvPr id="11" name="Rounded Rectangle 10"/>
          <p:cNvSpPr/>
          <p:nvPr/>
        </p:nvSpPr>
        <p:spPr>
          <a:xfrm>
            <a:off x="239612" y="3340491"/>
            <a:ext cx="3071447" cy="1518381"/>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dirty="0"/>
          </a:p>
        </p:txBody>
      </p:sp>
      <p:sp>
        <p:nvSpPr>
          <p:cNvPr id="13" name="Rounded Rectangle 12"/>
          <p:cNvSpPr/>
          <p:nvPr/>
        </p:nvSpPr>
        <p:spPr>
          <a:xfrm>
            <a:off x="544970" y="3352075"/>
            <a:ext cx="2421202" cy="36933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smtClean="0">
                <a:latin typeface="Arial Black" panose="020B0A04020102020204" pitchFamily="34" charset="0"/>
              </a:rPr>
              <a:t>DNA ANALYSIS</a:t>
            </a:r>
            <a:endParaRPr lang="en-US" b="1" dirty="0">
              <a:latin typeface="Arial Black" panose="020B0A04020102020204" pitchFamily="34" charset="0"/>
            </a:endParaRPr>
          </a:p>
        </p:txBody>
      </p:sp>
      <p:sp>
        <p:nvSpPr>
          <p:cNvPr id="14" name="Rounded Rectangle 13"/>
          <p:cNvSpPr/>
          <p:nvPr/>
        </p:nvSpPr>
        <p:spPr>
          <a:xfrm>
            <a:off x="239611" y="5102210"/>
            <a:ext cx="3071447" cy="1497655"/>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5" name="Rounded Rectangle 14"/>
          <p:cNvSpPr/>
          <p:nvPr/>
        </p:nvSpPr>
        <p:spPr>
          <a:xfrm>
            <a:off x="564733" y="5252935"/>
            <a:ext cx="2421202" cy="42027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latin typeface="Arial Black" panose="020B0A04020102020204" pitchFamily="34" charset="0"/>
              </a:rPr>
              <a:t>RNA ANALYSIS</a:t>
            </a:r>
            <a:endParaRPr lang="en-US" dirty="0">
              <a:latin typeface="Arial Black" panose="020B0A04020102020204" pitchFamily="34" charset="0"/>
            </a:endParaRPr>
          </a:p>
        </p:txBody>
      </p:sp>
      <p:sp>
        <p:nvSpPr>
          <p:cNvPr id="16" name="Rounded Rectangle 15"/>
          <p:cNvSpPr/>
          <p:nvPr/>
        </p:nvSpPr>
        <p:spPr>
          <a:xfrm>
            <a:off x="3582521" y="1405361"/>
            <a:ext cx="3035673" cy="160995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9" name="Rounded Rectangle 18"/>
          <p:cNvSpPr/>
          <p:nvPr/>
        </p:nvSpPr>
        <p:spPr>
          <a:xfrm>
            <a:off x="3827524" y="1462472"/>
            <a:ext cx="2421202" cy="57336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smtClean="0">
                <a:latin typeface="Arial Black" panose="020B0A04020102020204" pitchFamily="34" charset="0"/>
              </a:rPr>
              <a:t>PROTEIN ANALYSIS</a:t>
            </a:r>
            <a:endParaRPr lang="en-US" b="1" dirty="0">
              <a:latin typeface="Arial Black" panose="020B0A04020102020204" pitchFamily="34" charset="0"/>
            </a:endParaRPr>
          </a:p>
        </p:txBody>
      </p:sp>
      <p:sp>
        <p:nvSpPr>
          <p:cNvPr id="20" name="Rounded Rectangle 19"/>
          <p:cNvSpPr/>
          <p:nvPr/>
        </p:nvSpPr>
        <p:spPr>
          <a:xfrm>
            <a:off x="3582521" y="3334711"/>
            <a:ext cx="3035673" cy="1524161"/>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p>
        </p:txBody>
      </p:sp>
      <p:sp>
        <p:nvSpPr>
          <p:cNvPr id="21" name="Rounded Rectangle 20"/>
          <p:cNvSpPr/>
          <p:nvPr/>
        </p:nvSpPr>
        <p:spPr>
          <a:xfrm>
            <a:off x="3636180" y="5120139"/>
            <a:ext cx="3035673" cy="1461796"/>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22" name="Rounded Rectangle 21"/>
          <p:cNvSpPr/>
          <p:nvPr/>
        </p:nvSpPr>
        <p:spPr>
          <a:xfrm>
            <a:off x="3779013" y="3451047"/>
            <a:ext cx="2421202" cy="573367"/>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smtClean="0">
                <a:latin typeface="Arial Black" panose="020B0A04020102020204" pitchFamily="34" charset="0"/>
              </a:rPr>
              <a:t>SUBCELLULAR LOCALIZATION</a:t>
            </a:r>
            <a:endParaRPr lang="en-US" b="1" dirty="0">
              <a:latin typeface="Arial Black" panose="020B0A04020102020204" pitchFamily="34" charset="0"/>
            </a:endParaRPr>
          </a:p>
        </p:txBody>
      </p:sp>
      <p:sp>
        <p:nvSpPr>
          <p:cNvPr id="23" name="Rounded Rectangle 22"/>
          <p:cNvSpPr/>
          <p:nvPr/>
        </p:nvSpPr>
        <p:spPr>
          <a:xfrm>
            <a:off x="3943415" y="5252935"/>
            <a:ext cx="2421202" cy="57336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smtClean="0">
                <a:latin typeface="Arial Black" panose="020B0A04020102020204" pitchFamily="34" charset="0"/>
              </a:rPr>
              <a:t>PHYLOGENETIC ANALYSIS</a:t>
            </a:r>
            <a:endParaRPr lang="en-US" b="1" dirty="0">
              <a:latin typeface="Arial Black" panose="020B0A04020102020204" pitchFamily="34" charset="0"/>
            </a:endParaRPr>
          </a:p>
        </p:txBody>
      </p:sp>
      <p:sp>
        <p:nvSpPr>
          <p:cNvPr id="24" name="Rounded Rectangle 23"/>
          <p:cNvSpPr/>
          <p:nvPr/>
        </p:nvSpPr>
        <p:spPr>
          <a:xfrm>
            <a:off x="249394" y="6843203"/>
            <a:ext cx="3071447" cy="1497655"/>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25" name="Rounded Rectangle 24"/>
          <p:cNvSpPr/>
          <p:nvPr/>
        </p:nvSpPr>
        <p:spPr>
          <a:xfrm>
            <a:off x="438265" y="6876805"/>
            <a:ext cx="2674137" cy="579573"/>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latin typeface="Arial Black" panose="020B0A04020102020204" pitchFamily="34" charset="0"/>
              </a:rPr>
              <a:t>PROTEIN-PROTEIN INTERACTION</a:t>
            </a:r>
            <a:endParaRPr lang="en-US" dirty="0">
              <a:latin typeface="Arial Black" panose="020B0A04020102020204" pitchFamily="34" charset="0"/>
            </a:endParaRPr>
          </a:p>
        </p:txBody>
      </p:sp>
      <p:sp>
        <p:nvSpPr>
          <p:cNvPr id="26" name="Rounded Rectangle 25"/>
          <p:cNvSpPr/>
          <p:nvPr/>
        </p:nvSpPr>
        <p:spPr>
          <a:xfrm>
            <a:off x="3618292" y="6843202"/>
            <a:ext cx="3071447" cy="1497655"/>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27" name="Rounded Rectangle 26"/>
          <p:cNvSpPr/>
          <p:nvPr/>
        </p:nvSpPr>
        <p:spPr>
          <a:xfrm>
            <a:off x="3889756" y="6903331"/>
            <a:ext cx="2421202" cy="57336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b="1" dirty="0" smtClean="0">
                <a:latin typeface="Arial Black" panose="020B0A04020102020204" pitchFamily="34" charset="0"/>
              </a:rPr>
              <a:t>CONCLUSIONS AND REFERENCES</a:t>
            </a:r>
            <a:endParaRPr lang="en-US" sz="1600" b="1" dirty="0">
              <a:latin typeface="Arial Black" panose="020B0A04020102020204" pitchFamily="34" charset="0"/>
            </a:endParaRPr>
          </a:p>
        </p:txBody>
      </p:sp>
      <p:sp>
        <p:nvSpPr>
          <p:cNvPr id="28" name="Rectangle 27"/>
          <p:cNvSpPr/>
          <p:nvPr/>
        </p:nvSpPr>
        <p:spPr>
          <a:xfrm>
            <a:off x="544970" y="1773714"/>
            <a:ext cx="2558417" cy="1323439"/>
          </a:xfrm>
          <a:prstGeom prst="rect">
            <a:avLst/>
          </a:prstGeom>
        </p:spPr>
        <p:txBody>
          <a:bodyPr wrap="square">
            <a:spAutoFit/>
          </a:bodyPr>
          <a:lstStyle/>
          <a:p>
            <a:r>
              <a:rPr lang="en-US" sz="800" i="1" dirty="0" smtClean="0">
                <a:solidFill>
                  <a:schemeClr val="bg1"/>
                </a:solidFill>
              </a:rPr>
              <a:t>Arabidopsis thaliana</a:t>
            </a:r>
            <a:r>
              <a:rPr lang="en-US" sz="800" dirty="0" smtClean="0">
                <a:solidFill>
                  <a:schemeClr val="bg1"/>
                </a:solidFill>
              </a:rPr>
              <a:t> BAC clone T18F15 from chromosome 1 represents a key genomic region for in-</a:t>
            </a:r>
            <a:r>
              <a:rPr lang="en-US" sz="800" dirty="0" err="1" smtClean="0">
                <a:solidFill>
                  <a:schemeClr val="bg1"/>
                </a:solidFill>
              </a:rPr>
              <a:t>silico</a:t>
            </a:r>
            <a:r>
              <a:rPr lang="en-US" sz="800" dirty="0" smtClean="0">
                <a:solidFill>
                  <a:schemeClr val="bg1"/>
                </a:solidFill>
              </a:rPr>
              <a:t> analysis. This study integrates DNA analysis to identify nucleotide composition and ORFs, RNA analysis to examine transcriptional features, and protein analysis to predict structure and function. Phylogenetic analysis explores evolutionary relationships, while subcellular localization and protein–protein interaction studies reveal functional roles and potential molecular networks of the encoded proteins</a:t>
            </a:r>
            <a:r>
              <a:rPr lang="en-US" sz="800" dirty="0" smtClean="0"/>
              <a:t>.</a:t>
            </a:r>
            <a:endParaRPr lang="en-US" sz="800" dirty="0"/>
          </a:p>
        </p:txBody>
      </p:sp>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33898" y="3795037"/>
            <a:ext cx="897913" cy="458753"/>
          </a:xfrm>
          <a:prstGeom prst="rect">
            <a:avLst/>
          </a:prstGeom>
        </p:spPr>
      </p:pic>
      <p:pic>
        <p:nvPicPr>
          <p:cNvPr id="30" name="Picture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95288" y="6171482"/>
            <a:ext cx="721533" cy="385783"/>
          </a:xfrm>
          <a:prstGeom prst="rect">
            <a:avLst/>
          </a:prstGeom>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49034" y="4315736"/>
            <a:ext cx="897913" cy="504830"/>
          </a:xfrm>
          <a:prstGeom prst="rect">
            <a:avLst/>
          </a:prstGeom>
        </p:spPr>
      </p:pic>
      <p:pic>
        <p:nvPicPr>
          <p:cNvPr id="4" name="Picture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22837" y="4297919"/>
            <a:ext cx="862085" cy="504797"/>
          </a:xfrm>
          <a:prstGeom prst="rect">
            <a:avLst/>
          </a:prstGeom>
        </p:spPr>
      </p:pic>
      <p:pic>
        <p:nvPicPr>
          <p:cNvPr id="6" name="Picture 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762692" y="5687894"/>
            <a:ext cx="522873" cy="862166"/>
          </a:xfrm>
          <a:prstGeom prst="rect">
            <a:avLst/>
          </a:prstGeom>
        </p:spPr>
      </p:pic>
      <p:pic>
        <p:nvPicPr>
          <p:cNvPr id="7" name="Picture 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25773" y="4096791"/>
            <a:ext cx="922953" cy="518908"/>
          </a:xfrm>
          <a:prstGeom prst="rect">
            <a:avLst/>
          </a:prstGeom>
        </p:spPr>
      </p:pic>
      <p:pic>
        <p:nvPicPr>
          <p:cNvPr id="12" name="Picture 1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58372" y="5692493"/>
            <a:ext cx="676717" cy="380468"/>
          </a:xfrm>
          <a:prstGeom prst="rect">
            <a:avLst/>
          </a:prstGeom>
        </p:spPr>
      </p:pic>
      <p:pic>
        <p:nvPicPr>
          <p:cNvPr id="17" name="Picture 1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050481" y="6120900"/>
            <a:ext cx="712211" cy="400423"/>
          </a:xfrm>
          <a:prstGeom prst="rect">
            <a:avLst/>
          </a:prstGeom>
        </p:spPr>
      </p:pic>
      <p:pic>
        <p:nvPicPr>
          <p:cNvPr id="18" name="Picture 17"/>
          <p:cNvPicPr>
            <a:picLocks noChangeAspect="1"/>
          </p:cNvPicPr>
          <p:nvPr/>
        </p:nvPicPr>
        <p:blipFill>
          <a:blip r:embed="rId11"/>
          <a:stretch>
            <a:fillRect/>
          </a:stretch>
        </p:blipFill>
        <p:spPr>
          <a:xfrm>
            <a:off x="5576784" y="2547059"/>
            <a:ext cx="792507" cy="445568"/>
          </a:xfrm>
          <a:prstGeom prst="rect">
            <a:avLst/>
          </a:prstGeom>
        </p:spPr>
      </p:pic>
      <p:pic>
        <p:nvPicPr>
          <p:cNvPr id="32" name="Picture 3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flipH="1">
            <a:off x="4678476" y="2570399"/>
            <a:ext cx="838345" cy="430922"/>
          </a:xfrm>
          <a:prstGeom prst="rect">
            <a:avLst/>
          </a:prstGeom>
        </p:spPr>
      </p:pic>
      <p:pic>
        <p:nvPicPr>
          <p:cNvPr id="34" name="Picture 33"/>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542442" y="6152969"/>
            <a:ext cx="706284" cy="397091"/>
          </a:xfrm>
          <a:prstGeom prst="rect">
            <a:avLst/>
          </a:prstGeom>
        </p:spPr>
      </p:pic>
      <p:pic>
        <p:nvPicPr>
          <p:cNvPr id="35" name="Picture 34"/>
          <p:cNvPicPr>
            <a:picLocks noChangeAspect="1"/>
          </p:cNvPicPr>
          <p:nvPr/>
        </p:nvPicPr>
        <p:blipFill>
          <a:blip r:embed="rId14"/>
          <a:stretch>
            <a:fillRect/>
          </a:stretch>
        </p:blipFill>
        <p:spPr>
          <a:xfrm>
            <a:off x="2058372" y="7489981"/>
            <a:ext cx="1073964" cy="603810"/>
          </a:xfrm>
          <a:prstGeom prst="rect">
            <a:avLst/>
          </a:prstGeom>
        </p:spPr>
      </p:pic>
      <p:sp>
        <p:nvSpPr>
          <p:cNvPr id="37" name="Rectangle 2"/>
          <p:cNvSpPr>
            <a:spLocks noChangeArrowheads="1"/>
          </p:cNvSpPr>
          <p:nvPr/>
        </p:nvSpPr>
        <p:spPr bwMode="auto">
          <a:xfrm>
            <a:off x="0" y="457200"/>
            <a:ext cx="6858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9" name="Rectangle 38"/>
          <p:cNvSpPr/>
          <p:nvPr/>
        </p:nvSpPr>
        <p:spPr>
          <a:xfrm>
            <a:off x="370363" y="3767316"/>
            <a:ext cx="1165425" cy="769441"/>
          </a:xfrm>
          <a:prstGeom prst="rect">
            <a:avLst/>
          </a:prstGeom>
        </p:spPr>
        <p:txBody>
          <a:bodyPr wrap="square">
            <a:spAutoFit/>
          </a:bodyPr>
          <a:lstStyle/>
          <a:p>
            <a:r>
              <a:rPr lang="en-US" sz="400" dirty="0" err="1">
                <a:solidFill>
                  <a:schemeClr val="bg1"/>
                </a:solidFill>
              </a:rPr>
              <a:t>BLASTn</a:t>
            </a:r>
            <a:r>
              <a:rPr lang="en-US" sz="400" dirty="0">
                <a:solidFill>
                  <a:schemeClr val="bg1"/>
                </a:solidFill>
              </a:rPr>
              <a:t> analysis showed a 100% identity and complete query coverage with </a:t>
            </a:r>
            <a:r>
              <a:rPr lang="en-US" sz="400" i="1" dirty="0">
                <a:solidFill>
                  <a:schemeClr val="bg1"/>
                </a:solidFill>
              </a:rPr>
              <a:t>Arabidopsis thaliana</a:t>
            </a:r>
            <a:r>
              <a:rPr lang="en-US" sz="400" dirty="0">
                <a:solidFill>
                  <a:schemeClr val="bg1"/>
                </a:solidFill>
              </a:rPr>
              <a:t> chromosome 1 BAC T18F15 genomic sequence (E-value = 0.0).</a:t>
            </a:r>
            <a:br>
              <a:rPr lang="en-US" sz="400" dirty="0">
                <a:solidFill>
                  <a:schemeClr val="bg1"/>
                </a:solidFill>
              </a:rPr>
            </a:br>
            <a:r>
              <a:rPr lang="en-US" sz="400" dirty="0">
                <a:solidFill>
                  <a:schemeClr val="bg1"/>
                </a:solidFill>
              </a:rPr>
              <a:t>Additional high-scoring hits matched </a:t>
            </a:r>
            <a:r>
              <a:rPr lang="en-US" sz="400" i="1" dirty="0">
                <a:solidFill>
                  <a:schemeClr val="bg1"/>
                </a:solidFill>
              </a:rPr>
              <a:t>A. thaliana</a:t>
            </a:r>
            <a:r>
              <a:rPr lang="en-US" sz="400" dirty="0">
                <a:solidFill>
                  <a:schemeClr val="bg1"/>
                </a:solidFill>
              </a:rPr>
              <a:t> chromosome 1 assemblies and chlorophyll a–b binding family protein–related sequences.</a:t>
            </a:r>
            <a:br>
              <a:rPr lang="en-US" sz="400" dirty="0">
                <a:solidFill>
                  <a:schemeClr val="bg1"/>
                </a:solidFill>
              </a:rPr>
            </a:br>
            <a:r>
              <a:rPr lang="en-US" sz="400" dirty="0">
                <a:solidFill>
                  <a:schemeClr val="bg1"/>
                </a:solidFill>
              </a:rPr>
              <a:t>These results confirm the genomic origin and functional relevance of the query sequence in </a:t>
            </a:r>
            <a:r>
              <a:rPr lang="en-US" sz="400" i="1" dirty="0">
                <a:solidFill>
                  <a:schemeClr val="bg1"/>
                </a:solidFill>
              </a:rPr>
              <a:t>Arabidopsis thaliana</a:t>
            </a:r>
            <a:r>
              <a:rPr lang="en-US" sz="400" dirty="0">
                <a:solidFill>
                  <a:schemeClr val="bg1"/>
                </a:solidFill>
              </a:rPr>
              <a:t>.</a:t>
            </a:r>
          </a:p>
        </p:txBody>
      </p:sp>
      <p:sp>
        <p:nvSpPr>
          <p:cNvPr id="40" name="Rectangle 39"/>
          <p:cNvSpPr/>
          <p:nvPr/>
        </p:nvSpPr>
        <p:spPr>
          <a:xfrm>
            <a:off x="1422837" y="3762914"/>
            <a:ext cx="930443" cy="507831"/>
          </a:xfrm>
          <a:prstGeom prst="rect">
            <a:avLst/>
          </a:prstGeom>
        </p:spPr>
        <p:txBody>
          <a:bodyPr wrap="square">
            <a:spAutoFit/>
          </a:bodyPr>
          <a:lstStyle/>
          <a:p>
            <a:r>
              <a:rPr lang="en-US" sz="300" dirty="0" err="1">
                <a:solidFill>
                  <a:schemeClr val="bg1"/>
                </a:solidFill>
              </a:rPr>
              <a:t>ORFfinder</a:t>
            </a:r>
            <a:r>
              <a:rPr lang="en-US" sz="300" dirty="0">
                <a:solidFill>
                  <a:schemeClr val="bg1"/>
                </a:solidFill>
              </a:rPr>
              <a:t> identified three open reading frames on both forward and reverse strands of the sequence.</a:t>
            </a:r>
            <a:br>
              <a:rPr lang="en-US" sz="300" dirty="0">
                <a:solidFill>
                  <a:schemeClr val="bg1"/>
                </a:solidFill>
              </a:rPr>
            </a:br>
            <a:r>
              <a:rPr lang="en-US" sz="300" dirty="0">
                <a:solidFill>
                  <a:schemeClr val="bg1"/>
                </a:solidFill>
              </a:rPr>
              <a:t>ORF2 was selected as the final ORF because it is the longest (511 </a:t>
            </a:r>
            <a:r>
              <a:rPr lang="en-US" sz="300" dirty="0" err="1">
                <a:solidFill>
                  <a:schemeClr val="bg1"/>
                </a:solidFill>
              </a:rPr>
              <a:t>aa</a:t>
            </a:r>
            <a:r>
              <a:rPr lang="en-US" sz="300" dirty="0">
                <a:solidFill>
                  <a:schemeClr val="bg1"/>
                </a:solidFill>
              </a:rPr>
              <a:t>) and lacks premature stop codons.</a:t>
            </a:r>
            <a:br>
              <a:rPr lang="en-US" sz="300" dirty="0">
                <a:solidFill>
                  <a:schemeClr val="bg1"/>
                </a:solidFill>
              </a:rPr>
            </a:br>
            <a:r>
              <a:rPr lang="en-US" sz="300" dirty="0">
                <a:solidFill>
                  <a:schemeClr val="bg1"/>
                </a:solidFill>
              </a:rPr>
              <a:t>The size and translation of ORF2 are consistent with a functional chlorophyll a–b binding family protein.</a:t>
            </a:r>
          </a:p>
        </p:txBody>
      </p:sp>
      <p:sp>
        <p:nvSpPr>
          <p:cNvPr id="41" name="Rectangle 40"/>
          <p:cNvSpPr/>
          <p:nvPr/>
        </p:nvSpPr>
        <p:spPr>
          <a:xfrm>
            <a:off x="257497" y="5662437"/>
            <a:ext cx="1868960" cy="784830"/>
          </a:xfrm>
          <a:prstGeom prst="rect">
            <a:avLst/>
          </a:prstGeom>
        </p:spPr>
        <p:txBody>
          <a:bodyPr wrap="square">
            <a:spAutoFit/>
          </a:bodyPr>
          <a:lstStyle/>
          <a:p>
            <a:r>
              <a:rPr lang="en-US" sz="500" dirty="0">
                <a:solidFill>
                  <a:schemeClr val="bg1"/>
                </a:solidFill>
              </a:rPr>
              <a:t>The </a:t>
            </a:r>
            <a:r>
              <a:rPr lang="en-US" sz="500" dirty="0" err="1">
                <a:solidFill>
                  <a:schemeClr val="bg1"/>
                </a:solidFill>
              </a:rPr>
              <a:t>RNAfold</a:t>
            </a:r>
            <a:r>
              <a:rPr lang="en-US" sz="500" dirty="0">
                <a:solidFill>
                  <a:schemeClr val="bg1"/>
                </a:solidFill>
              </a:rPr>
              <a:t> prediction shows a well-defined secondary structure with multiple stem–loop and branching regions, indicating extensive </a:t>
            </a:r>
            <a:r>
              <a:rPr lang="en-US" sz="500" dirty="0" err="1">
                <a:solidFill>
                  <a:schemeClr val="bg1"/>
                </a:solidFill>
              </a:rPr>
              <a:t>intramolecular</a:t>
            </a:r>
            <a:r>
              <a:rPr lang="en-US" sz="500" dirty="0">
                <a:solidFill>
                  <a:schemeClr val="bg1"/>
                </a:solidFill>
              </a:rPr>
              <a:t> base pairing. Stability of the structure is reflected by the presence of long stems with high base-pairing probabilities (green/blue regions), which contribute to a lower minimum free energy (MFE). The MFE structure represents the most thermodynamically stable conformation under physiological conditions, while unpaired or weakly paired regions (red/yellow) indicate flexible loops and bulges.</a:t>
            </a:r>
          </a:p>
        </p:txBody>
      </p:sp>
      <p:pic>
        <p:nvPicPr>
          <p:cNvPr id="42" name="Picture 41"/>
          <p:cNvPicPr>
            <a:picLocks noChangeAspect="1"/>
          </p:cNvPicPr>
          <p:nvPr/>
        </p:nvPicPr>
        <p:blipFill>
          <a:blip r:embed="rId15"/>
          <a:stretch>
            <a:fillRect/>
          </a:stretch>
        </p:blipFill>
        <p:spPr>
          <a:xfrm>
            <a:off x="5480793" y="2035839"/>
            <a:ext cx="832807" cy="468225"/>
          </a:xfrm>
          <a:prstGeom prst="rect">
            <a:avLst/>
          </a:prstGeom>
        </p:spPr>
      </p:pic>
      <p:sp>
        <p:nvSpPr>
          <p:cNvPr id="43" name="Rectangle 42"/>
          <p:cNvSpPr/>
          <p:nvPr/>
        </p:nvSpPr>
        <p:spPr>
          <a:xfrm>
            <a:off x="3670000" y="2015838"/>
            <a:ext cx="1058683" cy="1015663"/>
          </a:xfrm>
          <a:prstGeom prst="rect">
            <a:avLst/>
          </a:prstGeom>
        </p:spPr>
        <p:txBody>
          <a:bodyPr wrap="square">
            <a:spAutoFit/>
          </a:bodyPr>
          <a:lstStyle/>
          <a:p>
            <a:r>
              <a:rPr lang="en-US" sz="500" dirty="0">
                <a:solidFill>
                  <a:schemeClr val="bg1"/>
                </a:solidFill>
              </a:rPr>
              <a:t>NPQ4 (</a:t>
            </a:r>
            <a:r>
              <a:rPr lang="en-US" sz="500" dirty="0" err="1">
                <a:solidFill>
                  <a:schemeClr val="bg1"/>
                </a:solidFill>
              </a:rPr>
              <a:t>PsbS</a:t>
            </a:r>
            <a:r>
              <a:rPr lang="en-US" sz="500" dirty="0">
                <a:solidFill>
                  <a:schemeClr val="bg1"/>
                </a:solidFill>
              </a:rPr>
              <a:t>) is predicted to function as a key regulator of non-photochemical quenching in </a:t>
            </a:r>
            <a:r>
              <a:rPr lang="en-US" sz="500" i="1" dirty="0">
                <a:solidFill>
                  <a:schemeClr val="bg1"/>
                </a:solidFill>
              </a:rPr>
              <a:t>Arabidopsis thaliana</a:t>
            </a:r>
            <a:r>
              <a:rPr lang="en-US" sz="500" dirty="0">
                <a:solidFill>
                  <a:schemeClr val="bg1"/>
                </a:solidFill>
              </a:rPr>
              <a:t>. It acts as a pH sensor in the thylakoid membrane, triggering the safe dissipation of excess absorbed light energy as heat under high-light conditions. This </a:t>
            </a:r>
            <a:r>
              <a:rPr lang="en-US" sz="500" dirty="0" err="1">
                <a:solidFill>
                  <a:schemeClr val="bg1"/>
                </a:solidFill>
              </a:rPr>
              <a:t>photoprotective</a:t>
            </a:r>
            <a:r>
              <a:rPr lang="en-US" sz="500" dirty="0">
                <a:solidFill>
                  <a:schemeClr val="bg1"/>
                </a:solidFill>
              </a:rPr>
              <a:t> role prevents oxidative damage and maintains photosystem II efficiency.</a:t>
            </a:r>
          </a:p>
        </p:txBody>
      </p:sp>
      <p:sp>
        <p:nvSpPr>
          <p:cNvPr id="44" name="Rectangle 43"/>
          <p:cNvSpPr/>
          <p:nvPr/>
        </p:nvSpPr>
        <p:spPr>
          <a:xfrm>
            <a:off x="3686412" y="4112981"/>
            <a:ext cx="1639361" cy="646331"/>
          </a:xfrm>
          <a:prstGeom prst="rect">
            <a:avLst/>
          </a:prstGeom>
        </p:spPr>
        <p:txBody>
          <a:bodyPr wrap="square">
            <a:spAutoFit/>
          </a:bodyPr>
          <a:lstStyle/>
          <a:p>
            <a:r>
              <a:rPr lang="en-US" sz="400" dirty="0">
                <a:solidFill>
                  <a:schemeClr val="bg1"/>
                </a:solidFill>
              </a:rPr>
              <a:t>The NPQ4 protein (</a:t>
            </a:r>
            <a:r>
              <a:rPr lang="en-US" sz="400" dirty="0" err="1">
                <a:solidFill>
                  <a:schemeClr val="bg1"/>
                </a:solidFill>
              </a:rPr>
              <a:t>PsbS</a:t>
            </a:r>
            <a:r>
              <a:rPr lang="en-US" sz="400" dirty="0">
                <a:solidFill>
                  <a:schemeClr val="bg1"/>
                </a:solidFill>
              </a:rPr>
              <a:t>) is predicted to be localized in the </a:t>
            </a:r>
            <a:r>
              <a:rPr lang="en-US" sz="400" b="1" dirty="0">
                <a:solidFill>
                  <a:schemeClr val="bg1"/>
                </a:solidFill>
              </a:rPr>
              <a:t>chloroplast</a:t>
            </a:r>
            <a:r>
              <a:rPr lang="en-US" sz="400" dirty="0">
                <a:solidFill>
                  <a:schemeClr val="bg1"/>
                </a:solidFill>
              </a:rPr>
              <a:t>, specifically associated with the </a:t>
            </a:r>
            <a:r>
              <a:rPr lang="en-US" sz="400" b="1" dirty="0">
                <a:solidFill>
                  <a:schemeClr val="bg1"/>
                </a:solidFill>
              </a:rPr>
              <a:t>thylakoid membrane</a:t>
            </a:r>
            <a:r>
              <a:rPr lang="en-US" sz="400" dirty="0">
                <a:solidFill>
                  <a:schemeClr val="bg1"/>
                </a:solidFill>
              </a:rPr>
              <a:t>. Both </a:t>
            </a:r>
            <a:r>
              <a:rPr lang="en-US" sz="400" b="1" dirty="0" err="1">
                <a:solidFill>
                  <a:schemeClr val="bg1"/>
                </a:solidFill>
              </a:rPr>
              <a:t>TargetP</a:t>
            </a:r>
            <a:r>
              <a:rPr lang="en-US" sz="400" dirty="0">
                <a:solidFill>
                  <a:schemeClr val="bg1"/>
                </a:solidFill>
              </a:rPr>
              <a:t> and </a:t>
            </a:r>
            <a:r>
              <a:rPr lang="en-US" sz="400" b="1" dirty="0" err="1">
                <a:solidFill>
                  <a:schemeClr val="bg1"/>
                </a:solidFill>
              </a:rPr>
              <a:t>DeepLoc</a:t>
            </a:r>
            <a:r>
              <a:rPr lang="en-US" sz="400" dirty="0">
                <a:solidFill>
                  <a:schemeClr val="bg1"/>
                </a:solidFill>
              </a:rPr>
              <a:t> indicate high chloroplast localization due to the presence of a chloroplast transit peptide and membrane-associated helices. This prediction is consistent with experimental evidence showing NPQ4’s role in </a:t>
            </a:r>
            <a:r>
              <a:rPr lang="en-US" sz="400" b="1" dirty="0">
                <a:solidFill>
                  <a:schemeClr val="bg1"/>
                </a:solidFill>
              </a:rPr>
              <a:t>non-photochemical quenching</a:t>
            </a:r>
            <a:r>
              <a:rPr lang="en-US" sz="400" dirty="0">
                <a:solidFill>
                  <a:schemeClr val="bg1"/>
                </a:solidFill>
              </a:rPr>
              <a:t> within photosystem II. Therefore, the protein’s final predicted location is the </a:t>
            </a:r>
            <a:r>
              <a:rPr lang="en-US" sz="400" b="1" dirty="0">
                <a:solidFill>
                  <a:schemeClr val="bg1"/>
                </a:solidFill>
              </a:rPr>
              <a:t>chloroplast thylakoid membrane</a:t>
            </a:r>
            <a:r>
              <a:rPr lang="en-US" sz="400" dirty="0">
                <a:solidFill>
                  <a:schemeClr val="bg1"/>
                </a:solidFill>
              </a:rPr>
              <a:t>, where it regulates </a:t>
            </a:r>
            <a:r>
              <a:rPr lang="en-US" sz="400" dirty="0" err="1">
                <a:solidFill>
                  <a:schemeClr val="bg1"/>
                </a:solidFill>
              </a:rPr>
              <a:t>photoprotection</a:t>
            </a:r>
            <a:r>
              <a:rPr lang="en-US" sz="400" dirty="0">
                <a:solidFill>
                  <a:schemeClr val="bg1"/>
                </a:solidFill>
              </a:rPr>
              <a:t>.</a:t>
            </a:r>
          </a:p>
        </p:txBody>
      </p:sp>
      <p:sp>
        <p:nvSpPr>
          <p:cNvPr id="45" name="Rectangle 44"/>
          <p:cNvSpPr/>
          <p:nvPr/>
        </p:nvSpPr>
        <p:spPr>
          <a:xfrm>
            <a:off x="438265" y="7468721"/>
            <a:ext cx="1612216" cy="600164"/>
          </a:xfrm>
          <a:prstGeom prst="rect">
            <a:avLst/>
          </a:prstGeom>
        </p:spPr>
        <p:txBody>
          <a:bodyPr wrap="square">
            <a:spAutoFit/>
          </a:bodyPr>
          <a:lstStyle/>
          <a:p>
            <a:r>
              <a:rPr lang="en-US" sz="300" dirty="0">
                <a:solidFill>
                  <a:schemeClr val="bg1"/>
                </a:solidFill>
              </a:rPr>
              <a:t>Biologically, this interaction network highlights the </a:t>
            </a:r>
            <a:r>
              <a:rPr lang="en-US" sz="300" b="1" dirty="0">
                <a:solidFill>
                  <a:schemeClr val="bg1"/>
                </a:solidFill>
              </a:rPr>
              <a:t>coordinated regulation of light harvesting and </a:t>
            </a:r>
            <a:r>
              <a:rPr lang="en-US" sz="300" b="1" dirty="0" err="1">
                <a:solidFill>
                  <a:schemeClr val="bg1"/>
                </a:solidFill>
              </a:rPr>
              <a:t>photoprotection</a:t>
            </a:r>
            <a:r>
              <a:rPr lang="en-US" sz="300" b="1" dirty="0">
                <a:solidFill>
                  <a:schemeClr val="bg1"/>
                </a:solidFill>
              </a:rPr>
              <a:t> during photosynthesis</a:t>
            </a:r>
            <a:r>
              <a:rPr lang="en-US" sz="300" dirty="0">
                <a:solidFill>
                  <a:schemeClr val="bg1"/>
                </a:solidFill>
              </a:rPr>
              <a:t>. PSBS plays a crucial role in </a:t>
            </a:r>
            <a:r>
              <a:rPr lang="en-US" sz="300" b="1" dirty="0">
                <a:solidFill>
                  <a:schemeClr val="bg1"/>
                </a:solidFill>
              </a:rPr>
              <a:t>non-photochemical quenching (NPQ)</a:t>
            </a:r>
            <a:r>
              <a:rPr lang="en-US" sz="300" dirty="0">
                <a:solidFill>
                  <a:schemeClr val="bg1"/>
                </a:solidFill>
              </a:rPr>
              <a:t>, a protective mechanism that safely dissipates excess absorbed light energy as heat, preventing </a:t>
            </a:r>
            <a:r>
              <a:rPr lang="en-US" sz="300" dirty="0" err="1">
                <a:solidFill>
                  <a:schemeClr val="bg1"/>
                </a:solidFill>
              </a:rPr>
              <a:t>photodamage</a:t>
            </a:r>
            <a:r>
              <a:rPr lang="en-US" sz="300" dirty="0">
                <a:solidFill>
                  <a:schemeClr val="bg1"/>
                </a:solidFill>
              </a:rPr>
              <a:t> under high-light conditions. Its strong interactions with LHCB proteins emphasize how PSBS functionally integrates with the light-harvesting antenna of PSII to balance energy capture and protection. The close connectivity among these proteins ensures efficient energy transfer under optimal conditions while enabling rapid protective responses during light stress. Overall, the STRING map underscores the </a:t>
            </a:r>
            <a:r>
              <a:rPr lang="en-US" sz="300" b="1" dirty="0">
                <a:solidFill>
                  <a:schemeClr val="bg1"/>
                </a:solidFill>
              </a:rPr>
              <a:t>functional interdependence of PSII antenna proteins</a:t>
            </a:r>
            <a:r>
              <a:rPr lang="en-US" sz="300" dirty="0">
                <a:solidFill>
                  <a:schemeClr val="bg1"/>
                </a:solidFill>
              </a:rPr>
              <a:t> that is essential for plant survival, photosynthetic efficiency, and adaptation to fluctuating light environments.</a:t>
            </a:r>
          </a:p>
        </p:txBody>
      </p:sp>
      <p:sp>
        <p:nvSpPr>
          <p:cNvPr id="46" name="Rectangle 45"/>
          <p:cNvSpPr/>
          <p:nvPr/>
        </p:nvSpPr>
        <p:spPr>
          <a:xfrm>
            <a:off x="3758483" y="5834269"/>
            <a:ext cx="2726889" cy="369332"/>
          </a:xfrm>
          <a:prstGeom prst="rect">
            <a:avLst/>
          </a:prstGeom>
        </p:spPr>
        <p:txBody>
          <a:bodyPr wrap="square">
            <a:spAutoFit/>
          </a:bodyPr>
          <a:lstStyle/>
          <a:p>
            <a:r>
              <a:rPr lang="en-US" sz="300" dirty="0">
                <a:solidFill>
                  <a:schemeClr val="bg1"/>
                </a:solidFill>
              </a:rPr>
              <a:t>This phylogenetic analysis demonstrates that the </a:t>
            </a:r>
            <a:r>
              <a:rPr lang="en-US" sz="300" b="1" dirty="0">
                <a:solidFill>
                  <a:schemeClr val="bg1"/>
                </a:solidFill>
              </a:rPr>
              <a:t>PSBS (Photosystem II subunit S)</a:t>
            </a:r>
            <a:r>
              <a:rPr lang="en-US" sz="300" dirty="0">
                <a:solidFill>
                  <a:schemeClr val="bg1"/>
                </a:solidFill>
              </a:rPr>
              <a:t> gene is </a:t>
            </a:r>
            <a:r>
              <a:rPr lang="en-US" sz="300" b="1" dirty="0">
                <a:solidFill>
                  <a:schemeClr val="bg1"/>
                </a:solidFill>
              </a:rPr>
              <a:t>highly conserved among flowering plants</a:t>
            </a:r>
            <a:r>
              <a:rPr lang="en-US" sz="300" dirty="0">
                <a:solidFill>
                  <a:schemeClr val="bg1"/>
                </a:solidFill>
              </a:rPr>
              <a:t>, particularly within the </a:t>
            </a:r>
            <a:r>
              <a:rPr lang="en-US" sz="300" dirty="0" err="1">
                <a:solidFill>
                  <a:schemeClr val="bg1"/>
                </a:solidFill>
              </a:rPr>
              <a:t>Brassicaceae</a:t>
            </a:r>
            <a:r>
              <a:rPr lang="en-US" sz="300" dirty="0">
                <a:solidFill>
                  <a:schemeClr val="bg1"/>
                </a:solidFill>
              </a:rPr>
              <a:t> lineage. The close clustering of Arabidopsis PSBS with homologs from Brassica and </a:t>
            </a:r>
            <a:r>
              <a:rPr lang="en-US" sz="300" dirty="0" err="1">
                <a:solidFill>
                  <a:schemeClr val="bg1"/>
                </a:solidFill>
              </a:rPr>
              <a:t>Camelina</a:t>
            </a:r>
            <a:r>
              <a:rPr lang="en-US" sz="300" dirty="0">
                <a:solidFill>
                  <a:schemeClr val="bg1"/>
                </a:solidFill>
              </a:rPr>
              <a:t> species highlights the </a:t>
            </a:r>
            <a:r>
              <a:rPr lang="en-US" sz="300" b="1" dirty="0">
                <a:solidFill>
                  <a:schemeClr val="bg1"/>
                </a:solidFill>
              </a:rPr>
              <a:t>strong evolutionary conservation of </a:t>
            </a:r>
            <a:r>
              <a:rPr lang="en-US" sz="300" b="1" dirty="0" err="1">
                <a:solidFill>
                  <a:schemeClr val="bg1"/>
                </a:solidFill>
              </a:rPr>
              <a:t>photoprotective</a:t>
            </a:r>
            <a:r>
              <a:rPr lang="en-US" sz="300" b="1" dirty="0">
                <a:solidFill>
                  <a:schemeClr val="bg1"/>
                </a:solidFill>
              </a:rPr>
              <a:t> mechanisms</a:t>
            </a:r>
            <a:r>
              <a:rPr lang="en-US" sz="300" dirty="0">
                <a:solidFill>
                  <a:schemeClr val="bg1"/>
                </a:solidFill>
              </a:rPr>
              <a:t>, especially </a:t>
            </a:r>
            <a:r>
              <a:rPr lang="en-US" sz="300" b="1" dirty="0">
                <a:solidFill>
                  <a:schemeClr val="bg1"/>
                </a:solidFill>
              </a:rPr>
              <a:t>non-photochemical quenching (NPQ)</a:t>
            </a:r>
            <a:r>
              <a:rPr lang="en-US" sz="300" dirty="0">
                <a:solidFill>
                  <a:schemeClr val="bg1"/>
                </a:solidFill>
              </a:rPr>
              <a:t>. Since NPQ is essential for protecting plants from excess light stress, conservation of PSBS suggests strong selective pressure to maintain its structure and function. The presence of homologs across diverse plant taxa indicates that PSBS originated early in plant evolution and has remained functionally indispensable for </a:t>
            </a:r>
            <a:r>
              <a:rPr lang="en-US" sz="300" b="1" dirty="0">
                <a:solidFill>
                  <a:schemeClr val="bg1"/>
                </a:solidFill>
              </a:rPr>
              <a:t>photosynthetic efficiency, stress tolerance, and survival under fluctuating light conditions</a:t>
            </a:r>
            <a:r>
              <a:rPr lang="en-US" sz="300" dirty="0">
                <a:solidFill>
                  <a:schemeClr val="bg1"/>
                </a:solidFill>
              </a:rPr>
              <a:t>.</a:t>
            </a:r>
          </a:p>
        </p:txBody>
      </p:sp>
      <p:pic>
        <p:nvPicPr>
          <p:cNvPr id="47" name="Picture 46"/>
          <p:cNvPicPr>
            <a:picLocks noChangeAspect="1"/>
          </p:cNvPicPr>
          <p:nvPr/>
        </p:nvPicPr>
        <p:blipFill>
          <a:blip r:embed="rId16"/>
          <a:stretch>
            <a:fillRect/>
          </a:stretch>
        </p:blipFill>
        <p:spPr>
          <a:xfrm>
            <a:off x="4023269" y="6141327"/>
            <a:ext cx="746398" cy="419644"/>
          </a:xfrm>
          <a:prstGeom prst="rect">
            <a:avLst/>
          </a:prstGeom>
        </p:spPr>
      </p:pic>
      <p:pic>
        <p:nvPicPr>
          <p:cNvPr id="48" name="Picture 4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flipV="1">
            <a:off x="4678476" y="2108386"/>
            <a:ext cx="753416" cy="423590"/>
          </a:xfrm>
          <a:prstGeom prst="rect">
            <a:avLst/>
          </a:prstGeom>
        </p:spPr>
      </p:pic>
      <p:sp>
        <p:nvSpPr>
          <p:cNvPr id="52" name="Rectangle 51"/>
          <p:cNvSpPr/>
          <p:nvPr/>
        </p:nvSpPr>
        <p:spPr>
          <a:xfrm>
            <a:off x="3698435" y="7489981"/>
            <a:ext cx="1687028" cy="877163"/>
          </a:xfrm>
          <a:prstGeom prst="rect">
            <a:avLst/>
          </a:prstGeom>
        </p:spPr>
        <p:txBody>
          <a:bodyPr wrap="square">
            <a:spAutoFit/>
          </a:bodyPr>
          <a:lstStyle/>
          <a:p>
            <a:r>
              <a:rPr lang="en-US" sz="300" dirty="0">
                <a:solidFill>
                  <a:schemeClr val="bg1"/>
                </a:solidFill>
                <a:latin typeface="Times New Roman" panose="02020603050405020304" pitchFamily="18" charset="0"/>
                <a:ea typeface="Times New Roman" panose="02020603050405020304" pitchFamily="18" charset="0"/>
              </a:rPr>
              <a:t>The computational analysis of </a:t>
            </a:r>
            <a:r>
              <a:rPr lang="en-US" sz="300" b="1" dirty="0">
                <a:solidFill>
                  <a:schemeClr val="bg1"/>
                </a:solidFill>
                <a:latin typeface="Times New Roman" panose="02020603050405020304" pitchFamily="18" charset="0"/>
                <a:ea typeface="Times New Roman" panose="02020603050405020304" pitchFamily="18" charset="0"/>
              </a:rPr>
              <a:t>NPQ4 (PSBS)</a:t>
            </a:r>
            <a:r>
              <a:rPr lang="en-US" sz="300" dirty="0">
                <a:solidFill>
                  <a:schemeClr val="bg1"/>
                </a:solidFill>
                <a:latin typeface="Times New Roman" panose="02020603050405020304" pitchFamily="18" charset="0"/>
                <a:ea typeface="Times New Roman" panose="02020603050405020304" pitchFamily="18" charset="0"/>
              </a:rPr>
              <a:t> highlights its central role in plant </a:t>
            </a:r>
            <a:r>
              <a:rPr lang="en-US" sz="300" dirty="0" err="1">
                <a:solidFill>
                  <a:schemeClr val="bg1"/>
                </a:solidFill>
                <a:latin typeface="Times New Roman" panose="02020603050405020304" pitchFamily="18" charset="0"/>
                <a:ea typeface="Times New Roman" panose="02020603050405020304" pitchFamily="18" charset="0"/>
              </a:rPr>
              <a:t>photoprotection</a:t>
            </a:r>
            <a:r>
              <a:rPr lang="en-US" sz="300" dirty="0">
                <a:solidFill>
                  <a:schemeClr val="bg1"/>
                </a:solidFill>
                <a:latin typeface="Times New Roman" panose="02020603050405020304" pitchFamily="18" charset="0"/>
                <a:ea typeface="Times New Roman" panose="02020603050405020304" pitchFamily="18" charset="0"/>
              </a:rPr>
              <a:t> and photosynthetic regulation. Sequence-based analyses confirm that NPQ4 is a </a:t>
            </a:r>
            <a:r>
              <a:rPr lang="en-US" sz="300" b="1" dirty="0">
                <a:solidFill>
                  <a:schemeClr val="bg1"/>
                </a:solidFill>
                <a:latin typeface="Times New Roman" panose="02020603050405020304" pitchFamily="18" charset="0"/>
                <a:ea typeface="Times New Roman" panose="02020603050405020304" pitchFamily="18" charset="0"/>
              </a:rPr>
              <a:t>highly conserved chloroplast-localized protein</a:t>
            </a:r>
            <a:r>
              <a:rPr lang="en-US" sz="300" dirty="0">
                <a:solidFill>
                  <a:schemeClr val="bg1"/>
                </a:solidFill>
                <a:latin typeface="Times New Roman" panose="02020603050405020304" pitchFamily="18" charset="0"/>
                <a:ea typeface="Times New Roman" panose="02020603050405020304" pitchFamily="18" charset="0"/>
              </a:rPr>
              <a:t> across plant species, particularly within the </a:t>
            </a:r>
            <a:r>
              <a:rPr lang="en-US" sz="300" dirty="0" err="1">
                <a:solidFill>
                  <a:schemeClr val="bg1"/>
                </a:solidFill>
                <a:latin typeface="Times New Roman" panose="02020603050405020304" pitchFamily="18" charset="0"/>
                <a:ea typeface="Times New Roman" panose="02020603050405020304" pitchFamily="18" charset="0"/>
              </a:rPr>
              <a:t>Brassicaceae</a:t>
            </a:r>
            <a:r>
              <a:rPr lang="en-US" sz="300" dirty="0">
                <a:solidFill>
                  <a:schemeClr val="bg1"/>
                </a:solidFill>
                <a:latin typeface="Times New Roman" panose="02020603050405020304" pitchFamily="18" charset="0"/>
                <a:ea typeface="Times New Roman" panose="02020603050405020304" pitchFamily="18" charset="0"/>
              </a:rPr>
              <a:t> family, indicating strong evolutionary pressure to maintain its function. Phylogenetic analysis places Arabidopsis thaliana NPQ4 in close relationship with homologs from related species, supporting a shared evolutionary origin and functional conservation.</a:t>
            </a:r>
          </a:p>
          <a:p>
            <a:r>
              <a:rPr lang="en-US" sz="300" dirty="0">
                <a:solidFill>
                  <a:schemeClr val="bg1"/>
                </a:solidFill>
                <a:latin typeface="Times New Roman" panose="02020603050405020304" pitchFamily="18" charset="0"/>
                <a:ea typeface="Times New Roman" panose="02020603050405020304" pitchFamily="18" charset="0"/>
              </a:rPr>
              <a:t>Protein–protein interaction analysis using STRING reveals that NPQ4 is tightly integrated within the </a:t>
            </a:r>
            <a:r>
              <a:rPr lang="en-US" sz="300" b="1" dirty="0">
                <a:solidFill>
                  <a:schemeClr val="bg1"/>
                </a:solidFill>
                <a:latin typeface="Times New Roman" panose="02020603050405020304" pitchFamily="18" charset="0"/>
                <a:ea typeface="Times New Roman" panose="02020603050405020304" pitchFamily="18" charset="0"/>
              </a:rPr>
              <a:t>photosystem II light-harvesting complex</a:t>
            </a:r>
            <a:r>
              <a:rPr lang="en-US" sz="300" dirty="0">
                <a:solidFill>
                  <a:schemeClr val="bg1"/>
                </a:solidFill>
                <a:latin typeface="Times New Roman" panose="02020603050405020304" pitchFamily="18" charset="0"/>
                <a:ea typeface="Times New Roman" panose="02020603050405020304" pitchFamily="18" charset="0"/>
              </a:rPr>
              <a:t>, showing strong associations with LHCB proteins involved in light capture and energy transfer. These interactions underline NPQ4’s critical role in </a:t>
            </a:r>
            <a:r>
              <a:rPr lang="en-US" sz="300" b="1" dirty="0">
                <a:solidFill>
                  <a:schemeClr val="bg1"/>
                </a:solidFill>
                <a:latin typeface="Times New Roman" panose="02020603050405020304" pitchFamily="18" charset="0"/>
                <a:ea typeface="Times New Roman" panose="02020603050405020304" pitchFamily="18" charset="0"/>
              </a:rPr>
              <a:t>non-photochemical quenching (NPQ)</a:t>
            </a:r>
            <a:r>
              <a:rPr lang="en-US" sz="300" dirty="0">
                <a:solidFill>
                  <a:schemeClr val="bg1"/>
                </a:solidFill>
                <a:latin typeface="Times New Roman" panose="02020603050405020304" pitchFamily="18" charset="0"/>
                <a:ea typeface="Times New Roman" panose="02020603050405020304" pitchFamily="18" charset="0"/>
              </a:rPr>
              <a:t>, where it facilitates the safe dissipation of excess excitation energy as heat, thereby preventing </a:t>
            </a:r>
            <a:r>
              <a:rPr lang="en-US" sz="300" dirty="0" err="1">
                <a:solidFill>
                  <a:schemeClr val="bg1"/>
                </a:solidFill>
                <a:latin typeface="Times New Roman" panose="02020603050405020304" pitchFamily="18" charset="0"/>
                <a:ea typeface="Times New Roman" panose="02020603050405020304" pitchFamily="18" charset="0"/>
              </a:rPr>
              <a:t>photoinhibition</a:t>
            </a:r>
            <a:r>
              <a:rPr lang="en-US" sz="300" dirty="0">
                <a:solidFill>
                  <a:schemeClr val="bg1"/>
                </a:solidFill>
                <a:latin typeface="Times New Roman" panose="02020603050405020304" pitchFamily="18" charset="0"/>
                <a:ea typeface="Times New Roman" panose="02020603050405020304" pitchFamily="18" charset="0"/>
              </a:rPr>
              <a:t> and oxidative damage under high-light stress.</a:t>
            </a:r>
          </a:p>
          <a:p>
            <a:r>
              <a:rPr lang="en-US" sz="300" dirty="0">
                <a:solidFill>
                  <a:schemeClr val="bg1"/>
                </a:solidFill>
                <a:latin typeface="Times New Roman" panose="02020603050405020304" pitchFamily="18" charset="0"/>
                <a:ea typeface="Times New Roman" panose="02020603050405020304" pitchFamily="18" charset="0"/>
              </a:rPr>
              <a:t>Overall, this computational study demonstrates that NPQ4 is a </a:t>
            </a:r>
            <a:r>
              <a:rPr lang="en-US" sz="300" b="1" dirty="0">
                <a:solidFill>
                  <a:schemeClr val="bg1"/>
                </a:solidFill>
                <a:latin typeface="Times New Roman" panose="02020603050405020304" pitchFamily="18" charset="0"/>
                <a:ea typeface="Times New Roman" panose="02020603050405020304" pitchFamily="18" charset="0"/>
              </a:rPr>
              <a:t>key regulatory component of photosystem II</a:t>
            </a:r>
            <a:r>
              <a:rPr lang="en-US" sz="300" dirty="0">
                <a:solidFill>
                  <a:schemeClr val="bg1"/>
                </a:solidFill>
                <a:latin typeface="Times New Roman" panose="02020603050405020304" pitchFamily="18" charset="0"/>
                <a:ea typeface="Times New Roman" panose="02020603050405020304" pitchFamily="18" charset="0"/>
              </a:rPr>
              <a:t>, essential for maintaining photosynthetic efficiency and plant stress tolerance. Such in </a:t>
            </a:r>
            <a:r>
              <a:rPr lang="en-US" sz="300" dirty="0" err="1">
                <a:solidFill>
                  <a:schemeClr val="bg1"/>
                </a:solidFill>
                <a:latin typeface="Times New Roman" panose="02020603050405020304" pitchFamily="18" charset="0"/>
                <a:ea typeface="Times New Roman" panose="02020603050405020304" pitchFamily="18" charset="0"/>
              </a:rPr>
              <a:t>silico</a:t>
            </a:r>
            <a:r>
              <a:rPr lang="en-US" sz="300" dirty="0">
                <a:solidFill>
                  <a:schemeClr val="bg1"/>
                </a:solidFill>
                <a:latin typeface="Times New Roman" panose="02020603050405020304" pitchFamily="18" charset="0"/>
                <a:ea typeface="Times New Roman" panose="02020603050405020304" pitchFamily="18" charset="0"/>
              </a:rPr>
              <a:t> analyses provide valuable insights into gene function, evolutionary conservation, and interaction networks, forming a strong foundation for future experimental validation and functional studies.</a:t>
            </a:r>
            <a:endParaRPr lang="en-US" sz="300" dirty="0">
              <a:solidFill>
                <a:schemeClr val="bg1"/>
              </a:solidFill>
              <a:effectLst/>
              <a:latin typeface="Times New Roman" panose="02020603050405020304" pitchFamily="18" charset="0"/>
              <a:ea typeface="Times New Roman" panose="02020603050405020304" pitchFamily="18" charset="0"/>
            </a:endParaRPr>
          </a:p>
        </p:txBody>
      </p:sp>
      <p:sp>
        <p:nvSpPr>
          <p:cNvPr id="53" name="Rectangle 52"/>
          <p:cNvSpPr/>
          <p:nvPr/>
        </p:nvSpPr>
        <p:spPr>
          <a:xfrm>
            <a:off x="5237460" y="7489981"/>
            <a:ext cx="1452279" cy="922304"/>
          </a:xfrm>
          <a:prstGeom prst="rect">
            <a:avLst/>
          </a:prstGeom>
        </p:spPr>
        <p:txBody>
          <a:bodyPr wrap="square">
            <a:spAutoFit/>
          </a:bodyPr>
          <a:lstStyle/>
          <a:p>
            <a:pPr>
              <a:lnSpc>
                <a:spcPct val="115000"/>
              </a:lnSpc>
              <a:spcBef>
                <a:spcPts val="800"/>
              </a:spcBef>
              <a:spcAft>
                <a:spcPts val="400"/>
              </a:spcAft>
            </a:pPr>
            <a:r>
              <a:rPr lang="en-US" sz="200" kern="100" dirty="0">
                <a:solidFill>
                  <a:schemeClr val="bg1"/>
                </a:solidFill>
                <a:latin typeface="Aptos"/>
                <a:ea typeface="等线 Light"/>
                <a:cs typeface="Times New Roman" panose="02020603050405020304" pitchFamily="18" charset="0"/>
              </a:rPr>
              <a:t>References</a:t>
            </a:r>
            <a:endParaRPr lang="en-US" sz="200" b="1" kern="100" dirty="0">
              <a:solidFill>
                <a:schemeClr val="bg1"/>
              </a:solidFill>
              <a:latin typeface="Aptos"/>
              <a:ea typeface="等线 Light"/>
              <a:cs typeface="Times New Roman" panose="02020603050405020304" pitchFamily="18" charset="0"/>
            </a:endParaRPr>
          </a:p>
          <a:p>
            <a:pPr marL="342900" marR="0" lvl="0" indent="-342900">
              <a:tabLst>
                <a:tab pos="457200" algn="l"/>
              </a:tabLst>
            </a:pPr>
            <a:r>
              <a:rPr lang="en-US" sz="200" dirty="0">
                <a:solidFill>
                  <a:schemeClr val="bg1"/>
                </a:solidFill>
                <a:latin typeface="Times New Roman" panose="02020603050405020304" pitchFamily="18" charset="0"/>
                <a:ea typeface="Times New Roman" panose="02020603050405020304" pitchFamily="18" charset="0"/>
              </a:rPr>
              <a:t>Li, X.-P., </a:t>
            </a:r>
            <a:r>
              <a:rPr lang="en-US" sz="200" dirty="0" err="1">
                <a:solidFill>
                  <a:schemeClr val="bg1"/>
                </a:solidFill>
                <a:latin typeface="Times New Roman" panose="02020603050405020304" pitchFamily="18" charset="0"/>
                <a:ea typeface="Times New Roman" panose="02020603050405020304" pitchFamily="18" charset="0"/>
              </a:rPr>
              <a:t>Björkman</a:t>
            </a:r>
            <a:r>
              <a:rPr lang="en-US" sz="200" dirty="0">
                <a:solidFill>
                  <a:schemeClr val="bg1"/>
                </a:solidFill>
                <a:latin typeface="Times New Roman" panose="02020603050405020304" pitchFamily="18" charset="0"/>
                <a:ea typeface="Times New Roman" panose="02020603050405020304" pitchFamily="18" charset="0"/>
              </a:rPr>
              <a:t>, O., Shih, C., Grossman, A. R., </a:t>
            </a:r>
            <a:r>
              <a:rPr lang="en-US" sz="200" dirty="0" err="1">
                <a:solidFill>
                  <a:schemeClr val="bg1"/>
                </a:solidFill>
                <a:latin typeface="Times New Roman" panose="02020603050405020304" pitchFamily="18" charset="0"/>
                <a:ea typeface="Times New Roman" panose="02020603050405020304" pitchFamily="18" charset="0"/>
              </a:rPr>
              <a:t>Rosenquist</a:t>
            </a:r>
            <a:r>
              <a:rPr lang="en-US" sz="200" dirty="0">
                <a:solidFill>
                  <a:schemeClr val="bg1"/>
                </a:solidFill>
                <a:latin typeface="Times New Roman" panose="02020603050405020304" pitchFamily="18" charset="0"/>
                <a:ea typeface="Times New Roman" panose="02020603050405020304" pitchFamily="18" charset="0"/>
              </a:rPr>
              <a:t>, M., </a:t>
            </a:r>
            <a:r>
              <a:rPr lang="en-US" sz="200" dirty="0" err="1">
                <a:solidFill>
                  <a:schemeClr val="bg1"/>
                </a:solidFill>
                <a:latin typeface="Times New Roman" panose="02020603050405020304" pitchFamily="18" charset="0"/>
                <a:ea typeface="Times New Roman" panose="02020603050405020304" pitchFamily="18" charset="0"/>
              </a:rPr>
              <a:t>Jansson</a:t>
            </a:r>
            <a:r>
              <a:rPr lang="en-US" sz="200" dirty="0">
                <a:solidFill>
                  <a:schemeClr val="bg1"/>
                </a:solidFill>
                <a:latin typeface="Times New Roman" panose="02020603050405020304" pitchFamily="18" charset="0"/>
                <a:ea typeface="Times New Roman" panose="02020603050405020304" pitchFamily="18" charset="0"/>
              </a:rPr>
              <a:t>, S., &amp; </a:t>
            </a:r>
            <a:r>
              <a:rPr lang="en-US" sz="200" dirty="0" err="1">
                <a:solidFill>
                  <a:schemeClr val="bg1"/>
                </a:solidFill>
                <a:latin typeface="Times New Roman" panose="02020603050405020304" pitchFamily="18" charset="0"/>
                <a:ea typeface="Times New Roman" panose="02020603050405020304" pitchFamily="18" charset="0"/>
              </a:rPr>
              <a:t>Niyogi</a:t>
            </a:r>
            <a:r>
              <a:rPr lang="en-US" sz="200" dirty="0">
                <a:solidFill>
                  <a:schemeClr val="bg1"/>
                </a:solidFill>
                <a:latin typeface="Times New Roman" panose="02020603050405020304" pitchFamily="18" charset="0"/>
                <a:ea typeface="Times New Roman" panose="02020603050405020304" pitchFamily="18" charset="0"/>
              </a:rPr>
              <a:t>, K. K. (2000).</a:t>
            </a:r>
            <a:br>
              <a:rPr lang="en-US" sz="200" dirty="0">
                <a:solidFill>
                  <a:schemeClr val="bg1"/>
                </a:solidFill>
                <a:latin typeface="Times New Roman" panose="02020603050405020304" pitchFamily="18" charset="0"/>
                <a:ea typeface="Times New Roman" panose="02020603050405020304" pitchFamily="18" charset="0"/>
              </a:rPr>
            </a:br>
            <a:r>
              <a:rPr lang="en-US" sz="200" i="1" dirty="0">
                <a:solidFill>
                  <a:schemeClr val="bg1"/>
                </a:solidFill>
                <a:latin typeface="Times New Roman" panose="02020603050405020304" pitchFamily="18" charset="0"/>
                <a:ea typeface="Times New Roman" panose="02020603050405020304" pitchFamily="18" charset="0"/>
              </a:rPr>
              <a:t>A pigment-binding protein essential for regulation of photosynthetic light harvesting.</a:t>
            </a:r>
            <a:r>
              <a:rPr lang="en-US" sz="200" dirty="0">
                <a:solidFill>
                  <a:schemeClr val="bg1"/>
                </a:solidFill>
                <a:latin typeface="Times New Roman" panose="02020603050405020304" pitchFamily="18" charset="0"/>
                <a:ea typeface="Times New Roman" panose="02020603050405020304" pitchFamily="18" charset="0"/>
              </a:rPr>
              <a:t/>
            </a:r>
            <a:br>
              <a:rPr lang="en-US" sz="200" dirty="0">
                <a:solidFill>
                  <a:schemeClr val="bg1"/>
                </a:solidFill>
                <a:latin typeface="Times New Roman" panose="02020603050405020304" pitchFamily="18" charset="0"/>
                <a:ea typeface="Times New Roman" panose="02020603050405020304" pitchFamily="18" charset="0"/>
              </a:rPr>
            </a:br>
            <a:r>
              <a:rPr lang="en-US" sz="200" b="1" dirty="0">
                <a:solidFill>
                  <a:schemeClr val="bg1"/>
                </a:solidFill>
                <a:latin typeface="Times New Roman" panose="02020603050405020304" pitchFamily="18" charset="0"/>
                <a:ea typeface="Times New Roman" panose="02020603050405020304" pitchFamily="18" charset="0"/>
              </a:rPr>
              <a:t>Nature</a:t>
            </a:r>
            <a:r>
              <a:rPr lang="en-US" sz="200" dirty="0">
                <a:solidFill>
                  <a:schemeClr val="bg1"/>
                </a:solidFill>
                <a:latin typeface="Times New Roman" panose="02020603050405020304" pitchFamily="18" charset="0"/>
                <a:ea typeface="Times New Roman" panose="02020603050405020304" pitchFamily="18" charset="0"/>
              </a:rPr>
              <a:t>, 403(6768), 391–395. https://doi.org/10.1038/35000131</a:t>
            </a:r>
          </a:p>
          <a:p>
            <a:pPr marL="342900" marR="0" lvl="0" indent="-342900">
              <a:tabLst>
                <a:tab pos="457200" algn="l"/>
              </a:tabLst>
            </a:pPr>
            <a:r>
              <a:rPr lang="en-US" sz="200" dirty="0" err="1">
                <a:solidFill>
                  <a:schemeClr val="bg1"/>
                </a:solidFill>
                <a:latin typeface="Times New Roman" panose="02020603050405020304" pitchFamily="18" charset="0"/>
                <a:ea typeface="Times New Roman" panose="02020603050405020304" pitchFamily="18" charset="0"/>
              </a:rPr>
              <a:t>Niyogi</a:t>
            </a:r>
            <a:r>
              <a:rPr lang="en-US" sz="200" dirty="0">
                <a:solidFill>
                  <a:schemeClr val="bg1"/>
                </a:solidFill>
                <a:latin typeface="Times New Roman" panose="02020603050405020304" pitchFamily="18" charset="0"/>
                <a:ea typeface="Times New Roman" panose="02020603050405020304" pitchFamily="18" charset="0"/>
              </a:rPr>
              <a:t>, K. K., Truong, T. B. (2013).</a:t>
            </a:r>
            <a:br>
              <a:rPr lang="en-US" sz="200" dirty="0">
                <a:solidFill>
                  <a:schemeClr val="bg1"/>
                </a:solidFill>
                <a:latin typeface="Times New Roman" panose="02020603050405020304" pitchFamily="18" charset="0"/>
                <a:ea typeface="Times New Roman" panose="02020603050405020304" pitchFamily="18" charset="0"/>
              </a:rPr>
            </a:br>
            <a:r>
              <a:rPr lang="en-US" sz="200" i="1" dirty="0">
                <a:solidFill>
                  <a:schemeClr val="bg1"/>
                </a:solidFill>
                <a:latin typeface="Times New Roman" panose="02020603050405020304" pitchFamily="18" charset="0"/>
                <a:ea typeface="Times New Roman" panose="02020603050405020304" pitchFamily="18" charset="0"/>
              </a:rPr>
              <a:t>Evolution of flexible non-photochemical quenching mechanisms that regulate light harvesting in oxygenic photosynthesis.</a:t>
            </a:r>
            <a:r>
              <a:rPr lang="en-US" sz="200" dirty="0">
                <a:solidFill>
                  <a:schemeClr val="bg1"/>
                </a:solidFill>
                <a:latin typeface="Times New Roman" panose="02020603050405020304" pitchFamily="18" charset="0"/>
                <a:ea typeface="Times New Roman" panose="02020603050405020304" pitchFamily="18" charset="0"/>
              </a:rPr>
              <a:t/>
            </a:r>
            <a:br>
              <a:rPr lang="en-US" sz="200" dirty="0">
                <a:solidFill>
                  <a:schemeClr val="bg1"/>
                </a:solidFill>
                <a:latin typeface="Times New Roman" panose="02020603050405020304" pitchFamily="18" charset="0"/>
                <a:ea typeface="Times New Roman" panose="02020603050405020304" pitchFamily="18" charset="0"/>
              </a:rPr>
            </a:br>
            <a:r>
              <a:rPr lang="en-US" sz="200" b="1" dirty="0">
                <a:solidFill>
                  <a:schemeClr val="bg1"/>
                </a:solidFill>
                <a:latin typeface="Times New Roman" panose="02020603050405020304" pitchFamily="18" charset="0"/>
                <a:ea typeface="Times New Roman" panose="02020603050405020304" pitchFamily="18" charset="0"/>
              </a:rPr>
              <a:t>Current Opinion in Plant Biology</a:t>
            </a:r>
            <a:r>
              <a:rPr lang="en-US" sz="200" dirty="0">
                <a:solidFill>
                  <a:schemeClr val="bg1"/>
                </a:solidFill>
                <a:latin typeface="Times New Roman" panose="02020603050405020304" pitchFamily="18" charset="0"/>
                <a:ea typeface="Times New Roman" panose="02020603050405020304" pitchFamily="18" charset="0"/>
              </a:rPr>
              <a:t>, 16(3), 307–314. https://doi.org/10.1016/j.pbi.2013.03.011</a:t>
            </a:r>
          </a:p>
          <a:p>
            <a:pPr marL="342900" marR="0" lvl="0" indent="-342900">
              <a:tabLst>
                <a:tab pos="457200" algn="l"/>
              </a:tabLst>
            </a:pPr>
            <a:r>
              <a:rPr lang="en-US" sz="200" dirty="0" err="1">
                <a:solidFill>
                  <a:schemeClr val="bg1"/>
                </a:solidFill>
                <a:latin typeface="Times New Roman" panose="02020603050405020304" pitchFamily="18" charset="0"/>
                <a:ea typeface="Times New Roman" panose="02020603050405020304" pitchFamily="18" charset="0"/>
              </a:rPr>
              <a:t>Ashburner</a:t>
            </a:r>
            <a:r>
              <a:rPr lang="en-US" sz="200" dirty="0">
                <a:solidFill>
                  <a:schemeClr val="bg1"/>
                </a:solidFill>
                <a:latin typeface="Times New Roman" panose="02020603050405020304" pitchFamily="18" charset="0"/>
                <a:ea typeface="Times New Roman" panose="02020603050405020304" pitchFamily="18" charset="0"/>
              </a:rPr>
              <a:t>, M., et al. (2000).</a:t>
            </a:r>
            <a:br>
              <a:rPr lang="en-US" sz="200" dirty="0">
                <a:solidFill>
                  <a:schemeClr val="bg1"/>
                </a:solidFill>
                <a:latin typeface="Times New Roman" panose="02020603050405020304" pitchFamily="18" charset="0"/>
                <a:ea typeface="Times New Roman" panose="02020603050405020304" pitchFamily="18" charset="0"/>
              </a:rPr>
            </a:br>
            <a:r>
              <a:rPr lang="en-US" sz="200" i="1" dirty="0">
                <a:solidFill>
                  <a:schemeClr val="bg1"/>
                </a:solidFill>
                <a:latin typeface="Times New Roman" panose="02020603050405020304" pitchFamily="18" charset="0"/>
                <a:ea typeface="Times New Roman" panose="02020603050405020304" pitchFamily="18" charset="0"/>
              </a:rPr>
              <a:t>Gene Ontology: tool for the unification of biology.</a:t>
            </a:r>
            <a:r>
              <a:rPr lang="en-US" sz="200" dirty="0">
                <a:solidFill>
                  <a:schemeClr val="bg1"/>
                </a:solidFill>
                <a:latin typeface="Times New Roman" panose="02020603050405020304" pitchFamily="18" charset="0"/>
                <a:ea typeface="Times New Roman" panose="02020603050405020304" pitchFamily="18" charset="0"/>
              </a:rPr>
              <a:t/>
            </a:r>
            <a:br>
              <a:rPr lang="en-US" sz="200" dirty="0">
                <a:solidFill>
                  <a:schemeClr val="bg1"/>
                </a:solidFill>
                <a:latin typeface="Times New Roman" panose="02020603050405020304" pitchFamily="18" charset="0"/>
                <a:ea typeface="Times New Roman" panose="02020603050405020304" pitchFamily="18" charset="0"/>
              </a:rPr>
            </a:br>
            <a:r>
              <a:rPr lang="en-US" sz="200" b="1" dirty="0">
                <a:solidFill>
                  <a:schemeClr val="bg1"/>
                </a:solidFill>
                <a:latin typeface="Times New Roman" panose="02020603050405020304" pitchFamily="18" charset="0"/>
                <a:ea typeface="Times New Roman" panose="02020603050405020304" pitchFamily="18" charset="0"/>
              </a:rPr>
              <a:t>Nature Genetics</a:t>
            </a:r>
            <a:r>
              <a:rPr lang="en-US" sz="200" dirty="0">
                <a:solidFill>
                  <a:schemeClr val="bg1"/>
                </a:solidFill>
                <a:latin typeface="Times New Roman" panose="02020603050405020304" pitchFamily="18" charset="0"/>
                <a:ea typeface="Times New Roman" panose="02020603050405020304" pitchFamily="18" charset="0"/>
              </a:rPr>
              <a:t>, 25(1), 25–29. </a:t>
            </a:r>
            <a:r>
              <a:rPr lang="en-US" sz="200" u="sng" dirty="0">
                <a:solidFill>
                  <a:schemeClr val="bg1"/>
                </a:solidFill>
                <a:latin typeface="Times New Roman" panose="02020603050405020304" pitchFamily="18" charset="0"/>
                <a:ea typeface="Times New Roman" panose="02020603050405020304" pitchFamily="18" charset="0"/>
                <a:hlinkClick r:id="rId17"/>
              </a:rPr>
              <a:t>https://doi.org/10.1038/75556</a:t>
            </a:r>
            <a:endParaRPr lang="en-US" sz="200" dirty="0">
              <a:solidFill>
                <a:schemeClr val="bg1"/>
              </a:solidFill>
              <a:latin typeface="Times New Roman" panose="02020603050405020304" pitchFamily="18" charset="0"/>
              <a:ea typeface="Times New Roman" panose="02020603050405020304" pitchFamily="18" charset="0"/>
            </a:endParaRPr>
          </a:p>
          <a:p>
            <a:pPr marL="342900" marR="0" lvl="0" indent="-342900">
              <a:tabLst>
                <a:tab pos="457200" algn="l"/>
              </a:tabLst>
            </a:pPr>
            <a:r>
              <a:rPr lang="en-US" sz="200" dirty="0" err="1">
                <a:solidFill>
                  <a:schemeClr val="bg1"/>
                </a:solidFill>
                <a:latin typeface="Times New Roman" panose="02020603050405020304" pitchFamily="18" charset="0"/>
                <a:ea typeface="Times New Roman" panose="02020603050405020304" pitchFamily="18" charset="0"/>
              </a:rPr>
              <a:t>Szklarczyk</a:t>
            </a:r>
            <a:r>
              <a:rPr lang="en-US" sz="200" dirty="0">
                <a:solidFill>
                  <a:schemeClr val="bg1"/>
                </a:solidFill>
                <a:latin typeface="Times New Roman" panose="02020603050405020304" pitchFamily="18" charset="0"/>
                <a:ea typeface="Times New Roman" panose="02020603050405020304" pitchFamily="18" charset="0"/>
              </a:rPr>
              <a:t>, D., et al. (2021).</a:t>
            </a:r>
            <a:br>
              <a:rPr lang="en-US" sz="200" dirty="0">
                <a:solidFill>
                  <a:schemeClr val="bg1"/>
                </a:solidFill>
                <a:latin typeface="Times New Roman" panose="02020603050405020304" pitchFamily="18" charset="0"/>
                <a:ea typeface="Times New Roman" panose="02020603050405020304" pitchFamily="18" charset="0"/>
              </a:rPr>
            </a:br>
            <a:r>
              <a:rPr lang="en-US" sz="200" i="1" dirty="0">
                <a:solidFill>
                  <a:schemeClr val="bg1"/>
                </a:solidFill>
                <a:latin typeface="Times New Roman" panose="02020603050405020304" pitchFamily="18" charset="0"/>
                <a:ea typeface="Times New Roman" panose="02020603050405020304" pitchFamily="18" charset="0"/>
              </a:rPr>
              <a:t>The STRING database in 2021: customizable protein–protein networks, and functional characterization of user-uploaded gene/measurement sets.</a:t>
            </a:r>
            <a:r>
              <a:rPr lang="en-US" sz="200" dirty="0">
                <a:solidFill>
                  <a:schemeClr val="bg1"/>
                </a:solidFill>
                <a:latin typeface="Times New Roman" panose="02020603050405020304" pitchFamily="18" charset="0"/>
                <a:ea typeface="Times New Roman" panose="02020603050405020304" pitchFamily="18" charset="0"/>
              </a:rPr>
              <a:t/>
            </a:r>
            <a:br>
              <a:rPr lang="en-US" sz="200" dirty="0">
                <a:solidFill>
                  <a:schemeClr val="bg1"/>
                </a:solidFill>
                <a:latin typeface="Times New Roman" panose="02020603050405020304" pitchFamily="18" charset="0"/>
                <a:ea typeface="Times New Roman" panose="02020603050405020304" pitchFamily="18" charset="0"/>
              </a:rPr>
            </a:br>
            <a:r>
              <a:rPr lang="en-US" sz="200" b="1" dirty="0">
                <a:solidFill>
                  <a:schemeClr val="bg1"/>
                </a:solidFill>
                <a:latin typeface="Times New Roman" panose="02020603050405020304" pitchFamily="18" charset="0"/>
                <a:ea typeface="Times New Roman" panose="02020603050405020304" pitchFamily="18" charset="0"/>
              </a:rPr>
              <a:t>Nucleic Acids Research</a:t>
            </a:r>
            <a:r>
              <a:rPr lang="en-US" sz="200" dirty="0">
                <a:solidFill>
                  <a:schemeClr val="bg1"/>
                </a:solidFill>
                <a:latin typeface="Times New Roman" panose="02020603050405020304" pitchFamily="18" charset="0"/>
                <a:ea typeface="Times New Roman" panose="02020603050405020304" pitchFamily="18" charset="0"/>
              </a:rPr>
              <a:t>, 49(D1), D605–D612. https://doi.org/10.1093/nar/gkaa1074</a:t>
            </a:r>
          </a:p>
          <a:p>
            <a:pPr marL="342900" marR="0" lvl="0" indent="-342900">
              <a:tabLst>
                <a:tab pos="457200" algn="l"/>
              </a:tabLst>
            </a:pPr>
            <a:r>
              <a:rPr lang="en-US" sz="200" dirty="0" err="1">
                <a:solidFill>
                  <a:schemeClr val="bg1"/>
                </a:solidFill>
                <a:latin typeface="Times New Roman" panose="02020603050405020304" pitchFamily="18" charset="0"/>
                <a:ea typeface="Times New Roman" panose="02020603050405020304" pitchFamily="18" charset="0"/>
              </a:rPr>
              <a:t>Altschul</a:t>
            </a:r>
            <a:r>
              <a:rPr lang="en-US" sz="200" dirty="0">
                <a:solidFill>
                  <a:schemeClr val="bg1"/>
                </a:solidFill>
                <a:latin typeface="Times New Roman" panose="02020603050405020304" pitchFamily="18" charset="0"/>
                <a:ea typeface="Times New Roman" panose="02020603050405020304" pitchFamily="18" charset="0"/>
              </a:rPr>
              <a:t>, S. F., Gish, W., Miller, W., Myers, E. W., &amp; </a:t>
            </a:r>
            <a:r>
              <a:rPr lang="en-US" sz="200" dirty="0" err="1">
                <a:solidFill>
                  <a:schemeClr val="bg1"/>
                </a:solidFill>
                <a:latin typeface="Times New Roman" panose="02020603050405020304" pitchFamily="18" charset="0"/>
                <a:ea typeface="Times New Roman" panose="02020603050405020304" pitchFamily="18" charset="0"/>
              </a:rPr>
              <a:t>Lipman</a:t>
            </a:r>
            <a:r>
              <a:rPr lang="en-US" sz="200" dirty="0">
                <a:solidFill>
                  <a:schemeClr val="bg1"/>
                </a:solidFill>
                <a:latin typeface="Times New Roman" panose="02020603050405020304" pitchFamily="18" charset="0"/>
                <a:ea typeface="Times New Roman" panose="02020603050405020304" pitchFamily="18" charset="0"/>
              </a:rPr>
              <a:t>, D. J. (1990).</a:t>
            </a:r>
            <a:br>
              <a:rPr lang="en-US" sz="200" dirty="0">
                <a:solidFill>
                  <a:schemeClr val="bg1"/>
                </a:solidFill>
                <a:latin typeface="Times New Roman" panose="02020603050405020304" pitchFamily="18" charset="0"/>
                <a:ea typeface="Times New Roman" panose="02020603050405020304" pitchFamily="18" charset="0"/>
              </a:rPr>
            </a:br>
            <a:r>
              <a:rPr lang="en-US" sz="200" i="1" dirty="0">
                <a:solidFill>
                  <a:schemeClr val="bg1"/>
                </a:solidFill>
                <a:latin typeface="Times New Roman" panose="02020603050405020304" pitchFamily="18" charset="0"/>
                <a:ea typeface="Times New Roman" panose="02020603050405020304" pitchFamily="18" charset="0"/>
              </a:rPr>
              <a:t>Basic local alignment search tool.</a:t>
            </a:r>
            <a:r>
              <a:rPr lang="en-US" sz="200" dirty="0">
                <a:solidFill>
                  <a:schemeClr val="bg1"/>
                </a:solidFill>
                <a:latin typeface="Times New Roman" panose="02020603050405020304" pitchFamily="18" charset="0"/>
                <a:ea typeface="Times New Roman" panose="02020603050405020304" pitchFamily="18" charset="0"/>
              </a:rPr>
              <a:t/>
            </a:r>
            <a:br>
              <a:rPr lang="en-US" sz="200" dirty="0">
                <a:solidFill>
                  <a:schemeClr val="bg1"/>
                </a:solidFill>
                <a:latin typeface="Times New Roman" panose="02020603050405020304" pitchFamily="18" charset="0"/>
                <a:ea typeface="Times New Roman" panose="02020603050405020304" pitchFamily="18" charset="0"/>
              </a:rPr>
            </a:br>
            <a:r>
              <a:rPr lang="en-US" sz="200" b="1" dirty="0">
                <a:solidFill>
                  <a:schemeClr val="bg1"/>
                </a:solidFill>
                <a:latin typeface="Times New Roman" panose="02020603050405020304" pitchFamily="18" charset="0"/>
                <a:ea typeface="Times New Roman" panose="02020603050405020304" pitchFamily="18" charset="0"/>
              </a:rPr>
              <a:t>Journal of Molecular Biology</a:t>
            </a:r>
            <a:r>
              <a:rPr lang="en-US" sz="200" dirty="0">
                <a:solidFill>
                  <a:schemeClr val="bg1"/>
                </a:solidFill>
                <a:latin typeface="Times New Roman" panose="02020603050405020304" pitchFamily="18" charset="0"/>
                <a:ea typeface="Times New Roman" panose="02020603050405020304" pitchFamily="18" charset="0"/>
              </a:rPr>
              <a:t>, 215(3), 403–410. https://doi.org/10.1016/S0022-2836(05)80360-2</a:t>
            </a:r>
          </a:p>
          <a:p>
            <a:pPr marL="342900" marR="0" lvl="0" indent="-342900">
              <a:tabLst>
                <a:tab pos="457200" algn="l"/>
              </a:tabLst>
            </a:pPr>
            <a:r>
              <a:rPr lang="en-US" sz="200" dirty="0">
                <a:solidFill>
                  <a:schemeClr val="bg1"/>
                </a:solidFill>
                <a:latin typeface="Times New Roman" panose="02020603050405020304" pitchFamily="18" charset="0"/>
                <a:ea typeface="Times New Roman" panose="02020603050405020304" pitchFamily="18" charset="0"/>
              </a:rPr>
              <a:t>Kumar, S., </a:t>
            </a:r>
            <a:r>
              <a:rPr lang="en-US" sz="200" dirty="0" err="1">
                <a:solidFill>
                  <a:schemeClr val="bg1"/>
                </a:solidFill>
                <a:latin typeface="Times New Roman" panose="02020603050405020304" pitchFamily="18" charset="0"/>
                <a:ea typeface="Times New Roman" panose="02020603050405020304" pitchFamily="18" charset="0"/>
              </a:rPr>
              <a:t>Stecher</a:t>
            </a:r>
            <a:r>
              <a:rPr lang="en-US" sz="200" dirty="0">
                <a:solidFill>
                  <a:schemeClr val="bg1"/>
                </a:solidFill>
                <a:latin typeface="Times New Roman" panose="02020603050405020304" pitchFamily="18" charset="0"/>
                <a:ea typeface="Times New Roman" panose="02020603050405020304" pitchFamily="18" charset="0"/>
              </a:rPr>
              <a:t>, G., Li, M., </a:t>
            </a:r>
            <a:r>
              <a:rPr lang="en-US" sz="200" dirty="0" err="1">
                <a:solidFill>
                  <a:schemeClr val="bg1"/>
                </a:solidFill>
                <a:latin typeface="Times New Roman" panose="02020603050405020304" pitchFamily="18" charset="0"/>
                <a:ea typeface="Times New Roman" panose="02020603050405020304" pitchFamily="18" charset="0"/>
              </a:rPr>
              <a:t>Knyaz</a:t>
            </a:r>
            <a:r>
              <a:rPr lang="en-US" sz="200" dirty="0">
                <a:solidFill>
                  <a:schemeClr val="bg1"/>
                </a:solidFill>
                <a:latin typeface="Times New Roman" panose="02020603050405020304" pitchFamily="18" charset="0"/>
                <a:ea typeface="Times New Roman" panose="02020603050405020304" pitchFamily="18" charset="0"/>
              </a:rPr>
              <a:t>, C., &amp; Tamura, K. (2018).</a:t>
            </a:r>
            <a:br>
              <a:rPr lang="en-US" sz="200" dirty="0">
                <a:solidFill>
                  <a:schemeClr val="bg1"/>
                </a:solidFill>
                <a:latin typeface="Times New Roman" panose="02020603050405020304" pitchFamily="18" charset="0"/>
                <a:ea typeface="Times New Roman" panose="02020603050405020304" pitchFamily="18" charset="0"/>
              </a:rPr>
            </a:br>
            <a:r>
              <a:rPr lang="en-US" sz="200" i="1" dirty="0">
                <a:solidFill>
                  <a:schemeClr val="bg1"/>
                </a:solidFill>
                <a:latin typeface="Times New Roman" panose="02020603050405020304" pitchFamily="18" charset="0"/>
                <a:ea typeface="Times New Roman" panose="02020603050405020304" pitchFamily="18" charset="0"/>
              </a:rPr>
              <a:t>MEGA X: Molecular Evolutionary Genetics Analysis across computing platforms.</a:t>
            </a:r>
            <a:r>
              <a:rPr lang="en-US" sz="200" dirty="0">
                <a:solidFill>
                  <a:schemeClr val="bg1"/>
                </a:solidFill>
                <a:latin typeface="Times New Roman" panose="02020603050405020304" pitchFamily="18" charset="0"/>
                <a:ea typeface="Times New Roman" panose="02020603050405020304" pitchFamily="18" charset="0"/>
              </a:rPr>
              <a:t/>
            </a:r>
            <a:br>
              <a:rPr lang="en-US" sz="200" dirty="0">
                <a:solidFill>
                  <a:schemeClr val="bg1"/>
                </a:solidFill>
                <a:latin typeface="Times New Roman" panose="02020603050405020304" pitchFamily="18" charset="0"/>
                <a:ea typeface="Times New Roman" panose="02020603050405020304" pitchFamily="18" charset="0"/>
              </a:rPr>
            </a:br>
            <a:r>
              <a:rPr lang="en-US" sz="200" b="1" dirty="0">
                <a:solidFill>
                  <a:schemeClr val="bg1"/>
                </a:solidFill>
                <a:latin typeface="Times New Roman" panose="02020603050405020304" pitchFamily="18" charset="0"/>
                <a:ea typeface="Times New Roman" panose="02020603050405020304" pitchFamily="18" charset="0"/>
              </a:rPr>
              <a:t>Molecular Biology and Evolution</a:t>
            </a:r>
            <a:r>
              <a:rPr lang="en-US" sz="200" dirty="0">
                <a:solidFill>
                  <a:schemeClr val="bg1"/>
                </a:solidFill>
                <a:latin typeface="Times New Roman" panose="02020603050405020304" pitchFamily="18" charset="0"/>
                <a:ea typeface="Times New Roman" panose="02020603050405020304" pitchFamily="18" charset="0"/>
              </a:rPr>
              <a:t>, 35(6), 1547–1549. https://doi.org/10.1093/molbev/msy096</a:t>
            </a:r>
          </a:p>
          <a:p>
            <a:pPr>
              <a:lnSpc>
                <a:spcPct val="115000"/>
              </a:lnSpc>
            </a:pPr>
            <a:r>
              <a:rPr lang="en-US" sz="200" kern="100" dirty="0">
                <a:latin typeface="Aptos"/>
                <a:ea typeface="等线"/>
                <a:cs typeface="Arial" panose="020B0604020202020204" pitchFamily="34" charset="0"/>
              </a:rPr>
              <a:t> </a:t>
            </a:r>
            <a:endParaRPr lang="en-US" sz="200" kern="100" dirty="0">
              <a:effectLst/>
              <a:latin typeface="Aptos"/>
              <a:ea typeface="等线"/>
              <a:cs typeface="Arial" panose="020B0604020202020204" pitchFamily="34" charset="0"/>
            </a:endParaRPr>
          </a:p>
        </p:txBody>
      </p:sp>
    </p:spTree>
    <p:extLst>
      <p:ext uri="{BB962C8B-B14F-4D97-AF65-F5344CB8AC3E}">
        <p14:creationId xmlns:p14="http://schemas.microsoft.com/office/powerpoint/2010/main" val="4180435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4104855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184</TotalTime>
  <Words>830</Words>
  <Application>Microsoft Office PowerPoint</Application>
  <PresentationFormat>On-screen Show (4:3)</PresentationFormat>
  <Paragraphs>28</Paragraphs>
  <Slides>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vt:i4>
      </vt:variant>
    </vt:vector>
  </HeadingPairs>
  <TitlesOfParts>
    <vt:vector size="11" baseType="lpstr">
      <vt:lpstr>Aptos</vt:lpstr>
      <vt:lpstr>Arial</vt:lpstr>
      <vt:lpstr>Arial Black</vt:lpstr>
      <vt:lpstr>Calibri</vt:lpstr>
      <vt:lpstr>Calibri Light</vt:lpstr>
      <vt:lpstr>Times New Roman</vt:lpstr>
      <vt:lpstr>等线</vt:lpstr>
      <vt:lpstr>等线 Light</vt:lpstr>
      <vt:lpstr>Office Theme</vt:lpstr>
      <vt:lpstr>COMPUTATIONAL ANALYSIS OF ARABIDOPSIS THALIANA CHLOROPHYLL A-B BINDING FAMILY PROTEIN (NPQ4)   MALAIKA KIRAN I DEPARTMENT OF BIOCHEMISTRY I BIOINFORMATICS PROJECT</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ANALYSIS OF ARABIDOPSIS THALIANA GENE MALAIKA KIRAN I DEPARTMENT OF BIOCHEMISTRY I BIOINFORMATICS PROJECT</dc:title>
  <dc:creator>Mooti</dc:creator>
  <cp:lastModifiedBy>Mooti</cp:lastModifiedBy>
  <cp:revision>23</cp:revision>
  <dcterms:created xsi:type="dcterms:W3CDTF">2025-12-23T06:50:16Z</dcterms:created>
  <dcterms:modified xsi:type="dcterms:W3CDTF">2025-12-25T13:35:41Z</dcterms:modified>
</cp:coreProperties>
</file>